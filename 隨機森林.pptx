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76" r:id="rId15"/>
    <p:sldId id="268" r:id="rId16"/>
    <p:sldId id="269" r:id="rId17"/>
    <p:sldId id="270" r:id="rId18"/>
    <p:sldId id="272" r:id="rId19"/>
    <p:sldId id="273" r:id="rId20"/>
    <p:sldId id="277" r:id="rId21"/>
    <p:sldId id="278" r:id="rId22"/>
    <p:sldId id="274" r:id="rId23"/>
    <p:sldId id="275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5"/>
    <p:restoredTop sz="94719"/>
  </p:normalViewPr>
  <p:slideViewPr>
    <p:cSldViewPr snapToGrid="0">
      <p:cViewPr varScale="1">
        <p:scale>
          <a:sx n="91" d="100"/>
          <a:sy n="91" d="100"/>
        </p:scale>
        <p:origin x="21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667C31-3B1E-D576-B3B2-8B3354FF1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AC26E91-2292-B274-8B18-D32FAAA42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BB6847-E56E-56D7-CAA8-9E477D407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794286-A666-E3A0-EF4E-21DE79EA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45D520-1D91-A59C-015A-0A3958B8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4775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8D8521-0481-A580-065D-7DC19299B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3" y="136525"/>
            <a:ext cx="11025554" cy="848213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C04256-CB1C-3722-D2B2-5DC9F5E03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123" y="1178169"/>
            <a:ext cx="11025554" cy="4998794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3B79A7-870A-2488-E786-B5CB2F7A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39870E-A8BE-644C-2EC0-B7F0A6BE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63AB5B-76E1-BCFA-5812-4704D6F0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4032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AFB2F1-57FE-3BBA-B7B3-A953DFC19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E8D14C-3914-7741-41D7-4375EEF1E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9B2873-0748-E037-F9CC-2D39AF696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FE9940-CB63-270A-F02D-F0D9E463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1C17C9-34E4-E480-399E-AACB2BEF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0276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C44F86-E4C0-C20A-0470-665BB9C9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4817B9-A552-7944-0FFC-F43AC73BB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4706F46-83A9-53BF-9D37-606746759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AFAAC2-EC9C-BC73-F8C3-23B68B3F9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1646E9-58A8-6E95-1D30-F3EB334F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643ECC9-2A66-7CD6-CD65-9C48FFA30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5879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8CF86-E63C-5F41-53F3-5DFD76ED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6746087-EF45-05C5-FDD8-94D85E3B2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BA7CEB-733D-9077-BD8A-8D74A0CC4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1F15E8-7A69-F7E5-3A21-D987287A7E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2E5B91-E0DB-EC36-48C7-4DEE3D58F7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EECE022-FB07-38A2-FC33-E8A5294F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839D2BA-E00E-57E2-A400-34238EB7C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FE81247-98E9-AD3A-5CBD-F5753BB6C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9619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D579C0-0039-2400-3558-502902D6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83050"/>
            <a:ext cx="11183815" cy="988891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76732B-0FC1-C3C1-406B-D1234372F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8E2B16E-2C04-2045-BA9D-A5C47FEE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34773CB-6BB1-3F1D-4932-1CC078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817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BE979B9-E8CC-5124-FE88-468510B2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E35EF2-3916-75E2-FE33-311ADBF7D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B5B268-CA67-56E7-2E04-A2E2B814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601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EC8566-92BA-1A3C-B4BC-432765F9D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AB9722-9B52-AA61-C732-534AC3BC9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69591D-49AF-8D54-1B7C-2946EF96D8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CC21898-D2FD-197C-EF7E-E49EB244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99B3BF3-7347-21EB-70EA-95A91441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06A4CE-47D4-D057-5263-732CF028F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7258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34B251-E0FB-3585-DC17-A2A7934C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276E421-24DB-A2A5-6D6E-CB1DBAB1D9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E16628-08AD-14E4-6AAB-FF954D916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80796CF-D964-ADEE-6A36-1CA8E9BD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66F467-CAFC-E1BF-DD78-464D55F52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2DC9B68-9F1F-C2BE-3C63-288ABF08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9835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2A99C2-B7C2-3491-1290-AD89B6D4F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693045-A768-2185-27E7-DF3D772B1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E84213-9A20-825C-5140-8D4DD24E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F6C0CA-A82C-ACEF-7874-6555BC3E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36CB6B-4F25-FA5A-A07E-D28CFADB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96763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C2BB00B-6CBA-D7FB-B798-2C7EC0E71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1FB952A-8EDA-F3BA-67C3-B7B19F55B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EFC1A7-3F70-8350-C926-DE5C5D88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9DC272-5B63-932D-E2DC-2FE9D342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26E7A-312C-7248-2CB5-3F0C4496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382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4E7E5F6-055C-906A-2129-25FDFFDE2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86D9FC-9F53-3E94-D780-00991A7D3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BDE2DC-14CE-3068-988D-7A558949F5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1807B2-9FAB-BF42-B998-12D6EA8003BD}" type="datetimeFigureOut">
              <a:rPr kumimoji="1" lang="zh-TW" altLang="en-US" smtClean="0"/>
              <a:t>2026/5/19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0575CC-2B5B-08BB-1908-1F2768C81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9C4D43-FDC8-1C05-EC98-717C5D32E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6545C-44BA-D647-9B4A-5D938CF1262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5443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" panose="020B0604030504040204" pitchFamily="34" charset="-120"/>
          <a:ea typeface="Microsoft JhengHe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yuanshan-elc.blogspot.com/2017/11/tree-diagnosis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uanshan-elc.blogspot.com/2017/11/tree-diagnosis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18EDA4-0C81-6669-D453-E44D93B4A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TW" altLang="en-US" dirty="0"/>
              <a:t>隨機森林模型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405CDC8-1213-57CB-4453-58FA54E412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/>
              <a:t>Random Forest</a:t>
            </a:r>
            <a:r>
              <a:rPr kumimoji="1" lang="zh-TW" altLang="en-US" dirty="0"/>
              <a:t> </a:t>
            </a:r>
            <a:r>
              <a:rPr kumimoji="1" lang="en-US" altLang="zh-TW" dirty="0"/>
              <a:t>model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5390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716B86-AAA2-A8DA-8606-E1A2130D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回顧決策樹模型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62843D-1769-BE7E-F5EB-CB6D0164F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zh-TW" altLang="en-US" sz="2400" dirty="0"/>
              <a:t>樹狀模型（</a:t>
            </a:r>
            <a:r>
              <a:rPr kumimoji="1" lang="en-US" altLang="zh-TW" sz="2400" dirty="0"/>
              <a:t>tree models</a:t>
            </a:r>
            <a:r>
              <a:rPr kumimoji="1" lang="zh-TW" altLang="en-US" sz="2400" dirty="0"/>
              <a:t>）依據特徵因子</a:t>
            </a:r>
            <a:r>
              <a:rPr kumimoji="1" lang="en-US" altLang="zh-TW" sz="2400" dirty="0"/>
              <a:t>(features)</a:t>
            </a:r>
            <a:r>
              <a:rPr kumimoji="1" lang="zh-TW" altLang="en-US" sz="2400" dirty="0"/>
              <a:t>與特徵因子值對於訓練資料</a:t>
            </a:r>
            <a:r>
              <a:rPr kumimoji="1" lang="en-US" altLang="zh-TW" sz="2400" dirty="0"/>
              <a:t>(training data)</a:t>
            </a:r>
            <a:r>
              <a:rPr kumimoji="1" lang="zh-TW" altLang="en-US" sz="2400" dirty="0"/>
              <a:t>進行切分，每一個切分點為樹的一個分支（</a:t>
            </a:r>
            <a:r>
              <a:rPr kumimoji="1" lang="en-US" altLang="zh-TW" sz="2400" dirty="0"/>
              <a:t>split</a:t>
            </a:r>
            <a:r>
              <a:rPr kumimoji="1" lang="zh-TW" altLang="en-US" sz="2400" dirty="0"/>
              <a:t>）。分支點選擇可以針對每一特徵因子，找出特徵值，使分割完的子節點雜度（</a:t>
            </a:r>
            <a:r>
              <a:rPr kumimoji="1" lang="en-US" altLang="zh-TW" sz="2400" dirty="0" err="1"/>
              <a:t>impruity</a:t>
            </a:r>
            <a:r>
              <a:rPr kumimoji="1" lang="zh-TW" altLang="en-US" sz="2400" dirty="0"/>
              <a:t>）總和小於上一層節點（父節點）的雜度。</a:t>
            </a:r>
            <a:endParaRPr kumimoji="1" lang="en-US" altLang="zh-TW" sz="2400" dirty="0"/>
          </a:p>
          <a:p>
            <a:pPr lvl="1">
              <a:lnSpc>
                <a:spcPct val="100000"/>
              </a:lnSpc>
            </a:pPr>
            <a:r>
              <a:rPr kumimoji="1" lang="zh-TW" altLang="en-US" sz="2000" dirty="0"/>
              <a:t>樹狀模型由根節點</a:t>
            </a:r>
            <a:r>
              <a:rPr kumimoji="1" lang="en-US" altLang="zh-TW" sz="2000" dirty="0"/>
              <a:t>(root)</a:t>
            </a:r>
            <a:r>
              <a:rPr kumimoji="1" lang="zh-TW" altLang="en-US" sz="2000" dirty="0"/>
              <a:t>、內節點</a:t>
            </a:r>
            <a:r>
              <a:rPr kumimoji="1" lang="en-US" altLang="zh-TW" sz="2000" dirty="0"/>
              <a:t>(internal)</a:t>
            </a:r>
            <a:r>
              <a:rPr kumimoji="1" lang="zh-TW" altLang="en-US" sz="2000" dirty="0"/>
              <a:t>、及葉節點</a:t>
            </a:r>
            <a:r>
              <a:rPr kumimoji="1" lang="en-US" altLang="zh-TW" sz="2000" dirty="0"/>
              <a:t>(leaf)</a:t>
            </a:r>
            <a:r>
              <a:rPr kumimoji="1" lang="zh-TW" altLang="en-US" sz="2000" dirty="0"/>
              <a:t>組成</a:t>
            </a:r>
            <a:endParaRPr kumimoji="1" lang="en-US" altLang="zh-TW" sz="2000" dirty="0"/>
          </a:p>
          <a:p>
            <a:pPr lvl="1">
              <a:lnSpc>
                <a:spcPct val="100000"/>
              </a:lnSpc>
            </a:pPr>
            <a:r>
              <a:rPr kumimoji="1" lang="zh-TW" altLang="en-US" sz="2000" dirty="0"/>
              <a:t>每個節點中資料數量不同</a:t>
            </a:r>
            <a:endParaRPr kumimoji="1" lang="en-US" altLang="zh-TW" sz="2000" dirty="0"/>
          </a:p>
          <a:p>
            <a:pPr lvl="1">
              <a:lnSpc>
                <a:spcPct val="100000"/>
              </a:lnSpc>
            </a:pPr>
            <a:r>
              <a:rPr kumimoji="1" lang="zh-TW" altLang="en-US" sz="2000" dirty="0"/>
              <a:t>雜度可依據 </a:t>
            </a:r>
            <a:r>
              <a:rPr kumimoji="1" lang="en-US" altLang="zh-TW" sz="2000" dirty="0" err="1"/>
              <a:t>gini</a:t>
            </a:r>
            <a:r>
              <a:rPr kumimoji="1" lang="en-US" altLang="zh-TW" sz="2000" dirty="0"/>
              <a:t>, entropy, </a:t>
            </a:r>
            <a:r>
              <a:rPr kumimoji="1" lang="zh-TW" altLang="en-US" sz="2000" dirty="0"/>
              <a:t>或 預測錯誤率計算而得</a:t>
            </a:r>
            <a:endParaRPr kumimoji="1" lang="en-US" altLang="zh-TW" sz="2000" dirty="0"/>
          </a:p>
          <a:p>
            <a:pPr>
              <a:lnSpc>
                <a:spcPct val="100000"/>
              </a:lnSpc>
            </a:pPr>
            <a:r>
              <a:rPr kumimoji="1" lang="zh-TW" altLang="en-US" sz="2400" dirty="0"/>
              <a:t>樹的深度為從根節點到葉節點路徑中經過最大的內部節點數</a:t>
            </a:r>
            <a:r>
              <a:rPr kumimoji="1" lang="en-US" altLang="zh-TW" sz="2400" dirty="0"/>
              <a:t>+1</a:t>
            </a:r>
            <a:r>
              <a:rPr kumimoji="1" lang="zh-TW" altLang="en-US" sz="2400" dirty="0"/>
              <a:t>，樹的深度越大，越容易發生</a:t>
            </a:r>
            <a:r>
              <a:rPr kumimoji="1" lang="en-US" altLang="zh-TW" sz="2400" dirty="0"/>
              <a:t>overfitting</a:t>
            </a:r>
            <a:r>
              <a:rPr kumimoji="1" lang="zh-TW" altLang="en-US" sz="2400" dirty="0"/>
              <a:t>，但樹的形狀月不同</a:t>
            </a:r>
            <a:endParaRPr kumimoji="1" lang="en-US" altLang="zh-TW" sz="2400" dirty="0"/>
          </a:p>
          <a:p>
            <a:pPr>
              <a:lnSpc>
                <a:spcPct val="100000"/>
              </a:lnSpc>
            </a:pPr>
            <a:r>
              <a:rPr kumimoji="1" lang="zh-TW" altLang="en-US" sz="2400" dirty="0"/>
              <a:t>為防止發生</a:t>
            </a:r>
            <a:r>
              <a:rPr kumimoji="1" lang="en-US" altLang="zh-TW" sz="2400" dirty="0"/>
              <a:t>overfitting</a:t>
            </a:r>
            <a:r>
              <a:rPr kumimoji="1" lang="zh-TW" altLang="en-US" sz="2400" dirty="0"/>
              <a:t>，需要進行修剪（</a:t>
            </a:r>
            <a:r>
              <a:rPr kumimoji="1" lang="en-US" altLang="zh-TW" sz="2400" dirty="0"/>
              <a:t>pruning tree</a:t>
            </a:r>
            <a:r>
              <a:rPr kumimoji="1" lang="zh-TW" altLang="en-US" sz="2400" dirty="0"/>
              <a:t>）</a:t>
            </a:r>
            <a:endParaRPr kumimoji="1" lang="en-US" altLang="zh-TW" sz="2400" dirty="0"/>
          </a:p>
          <a:p>
            <a:pPr>
              <a:lnSpc>
                <a:spcPct val="100000"/>
              </a:lnSpc>
            </a:pPr>
            <a:r>
              <a:rPr kumimoji="1" lang="zh-TW" altLang="en-US" sz="2400" dirty="0"/>
              <a:t>樹狀模型可以用於回歸預測（</a:t>
            </a:r>
            <a:r>
              <a:rPr kumimoji="1" lang="en-US" altLang="zh-TW" sz="2400" dirty="0"/>
              <a:t>regression</a:t>
            </a:r>
            <a:r>
              <a:rPr kumimoji="1" lang="zh-TW" altLang="en-US" sz="2400" dirty="0"/>
              <a:t>）及分類預測（</a:t>
            </a:r>
            <a:r>
              <a:rPr kumimoji="1" lang="en-US" altLang="zh-TW" sz="2400" dirty="0"/>
              <a:t>classification</a:t>
            </a:r>
            <a:r>
              <a:rPr kumimoji="1" lang="zh-TW" altLang="en-US" sz="2400" dirty="0"/>
              <a:t>）</a:t>
            </a:r>
            <a:endParaRPr kumimoji="1" lang="en-US" altLang="zh-TW" sz="2400" dirty="0"/>
          </a:p>
          <a:p>
            <a:pPr>
              <a:lnSpc>
                <a:spcPct val="100000"/>
              </a:lnSpc>
            </a:pP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515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FF145-16F1-D016-4D2E-526754A0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CART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EDDBD9-45B4-BF74-462F-74F23D51D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7543" cy="4351338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CART</a:t>
            </a:r>
            <a:r>
              <a:rPr lang="zh-TW" altLang="en-US" sz="2000" dirty="0"/>
              <a:t>是一個決策樹學習模型，可利用訓練資料演化為一顆</a:t>
            </a:r>
            <a:r>
              <a:rPr lang="zh-TW" altLang="en-US" sz="2000" dirty="0">
                <a:solidFill>
                  <a:srgbClr val="0070C0"/>
                </a:solidFill>
              </a:rPr>
              <a:t>二元樹</a:t>
            </a:r>
            <a:r>
              <a:rPr lang="en-US" altLang="zh-TW" sz="2000" dirty="0">
                <a:solidFill>
                  <a:srgbClr val="0070C0"/>
                </a:solidFill>
              </a:rPr>
              <a:t>(binary tree)</a:t>
            </a:r>
          </a:p>
          <a:p>
            <a:r>
              <a:rPr kumimoji="1" lang="en-US" altLang="zh-TW" sz="2000" dirty="0">
                <a:solidFill>
                  <a:srgbClr val="0070C0"/>
                </a:solidFill>
              </a:rPr>
              <a:t>CART</a:t>
            </a:r>
            <a:r>
              <a:rPr lang="zh-TW" altLang="en-US" sz="2000" dirty="0"/>
              <a:t>由根節點開始分割，針對每一個特徵屬性，尋找分割屬性值，使生成的子節點 </a:t>
            </a:r>
            <a:r>
              <a:rPr lang="en-US" altLang="zh-TW" sz="2000" dirty="0"/>
              <a:t>Gini Impurity </a:t>
            </a:r>
            <a:r>
              <a:rPr lang="zh-TW" altLang="en-US" sz="2000" dirty="0"/>
              <a:t>最小，分割過程採遞迴方式不斷地向下分割，一直到</a:t>
            </a:r>
            <a:endParaRPr lang="en-US" altLang="zh-TW" sz="2000" dirty="0"/>
          </a:p>
          <a:p>
            <a:pPr lvl="1"/>
            <a:r>
              <a:rPr lang="zh-TW" altLang="en-US" sz="1800" dirty="0"/>
              <a:t>當每個子節點只有一筆資料</a:t>
            </a:r>
            <a:endParaRPr lang="en-US" altLang="zh-TW" sz="1800" dirty="0"/>
          </a:p>
          <a:p>
            <a:pPr lvl="1"/>
            <a:r>
              <a:rPr lang="zh-TW" altLang="en-US" sz="1800" dirty="0"/>
              <a:t>當每個節點中</a:t>
            </a:r>
            <a:r>
              <a:rPr lang="en-US" altLang="zh-TW" sz="1800" dirty="0"/>
              <a:t>case</a:t>
            </a:r>
            <a:r>
              <a:rPr lang="zh-TW" altLang="en-US" sz="1800" dirty="0"/>
              <a:t>的類別相同</a:t>
            </a:r>
            <a:endParaRPr lang="en-US" altLang="zh-TW" sz="1800" dirty="0"/>
          </a:p>
          <a:p>
            <a:pPr lvl="1"/>
            <a:r>
              <a:rPr lang="zh-TW" altLang="en-US" sz="1800" dirty="0"/>
              <a:t>達到樹最大深度預設值</a:t>
            </a:r>
            <a:endParaRPr lang="en-US" altLang="zh-TW" sz="1800" dirty="0"/>
          </a:p>
          <a:p>
            <a:r>
              <a:rPr lang="en-US" altLang="zh-TW" sz="2000" dirty="0"/>
              <a:t>CART</a:t>
            </a:r>
            <a:r>
              <a:rPr lang="zh-TW" altLang="en-US" sz="2000" dirty="0"/>
              <a:t>修剪樹時，移除一些對於樹狀模型預測結果影響小的節點</a:t>
            </a:r>
            <a:endParaRPr lang="en-US" altLang="zh-TW" sz="2000" dirty="0"/>
          </a:p>
          <a:p>
            <a:endParaRPr lang="en-US" altLang="zh-TW" sz="2000" dirty="0"/>
          </a:p>
          <a:p>
            <a:endParaRPr kumimoji="1" lang="en-US" altLang="zh-TW" sz="2000" dirty="0">
              <a:solidFill>
                <a:srgbClr val="0070C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63F3D85-07DC-D70D-E878-21232EEC0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743" y="2502921"/>
            <a:ext cx="5704113" cy="230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44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F2C53B-D12A-5CD9-A715-70F36143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Sklearn</a:t>
            </a:r>
            <a:r>
              <a:rPr kumimoji="1" lang="zh-TW" altLang="en-US" dirty="0"/>
              <a:t>實作</a:t>
            </a:r>
            <a:r>
              <a:rPr kumimoji="1" lang="en-US" altLang="zh-TW" dirty="0"/>
              <a:t>CART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0F2E86-897D-ABFD-ED9F-4320123CD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23" y="984738"/>
            <a:ext cx="10949354" cy="567731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kumimoji="1" lang="zh-TW" altLang="en-US" sz="1600" dirty="0"/>
              <a:t>導入模組</a:t>
            </a:r>
            <a:endParaRPr kumimoji="1" lang="en-US" altLang="zh-TW" sz="1600" dirty="0"/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Consolas" panose="020B0609020204030204" pitchFamily="49" charset="0"/>
              </a:rPr>
              <a:t>from </a:t>
            </a:r>
            <a:r>
              <a:rPr lang="en-US" altLang="zh-TW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sklearn.tree</a:t>
            </a:r>
            <a:r>
              <a:rPr lang="en-US" altLang="zh-TW" sz="1600" dirty="0">
                <a:latin typeface="Consolas" panose="020B0609020204030204" pitchFamily="49" charset="0"/>
              </a:rPr>
              <a:t> import 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DecisionTreeRegressor</a:t>
            </a:r>
            <a:r>
              <a:rPr lang="en-US" altLang="zh-TW" sz="1600" dirty="0">
                <a:solidFill>
                  <a:srgbClr val="C00000"/>
                </a:solidFill>
                <a:latin typeface="Consolas" panose="020B0609020204030204" pitchFamily="49" charset="0"/>
              </a:rPr>
              <a:t> (</a:t>
            </a:r>
            <a:r>
              <a:rPr lang="zh-TW" alt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回歸</a:t>
            </a:r>
            <a:r>
              <a:rPr lang="en-US" altLang="zh-TW" sz="16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Consolas" panose="020B0609020204030204" pitchFamily="49" charset="0"/>
              </a:rPr>
              <a:t>from </a:t>
            </a:r>
            <a:r>
              <a:rPr lang="en-US" altLang="zh-TW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sklearn.tree</a:t>
            </a:r>
            <a:r>
              <a:rPr lang="en-US" altLang="zh-TW" sz="1600" dirty="0">
                <a:latin typeface="Consolas" panose="020B0609020204030204" pitchFamily="49" charset="0"/>
              </a:rPr>
              <a:t> import 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DecisionTreeClassifier</a:t>
            </a:r>
            <a:r>
              <a:rPr lang="en-US" altLang="zh-TW" sz="1600" dirty="0">
                <a:solidFill>
                  <a:srgbClr val="C00000"/>
                </a:solidFill>
                <a:latin typeface="Consolas" panose="020B0609020204030204" pitchFamily="49" charset="0"/>
              </a:rPr>
              <a:t> (</a:t>
            </a:r>
            <a:r>
              <a:rPr lang="zh-TW" alt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分類</a:t>
            </a:r>
            <a:r>
              <a:rPr lang="en-US" altLang="zh-TW" sz="1600" dirty="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kumimoji="1" lang="zh-TW" altLang="en-US" sz="1600" dirty="0">
                <a:latin typeface="Consolas" panose="020B0609020204030204" pitchFamily="49" charset="0"/>
              </a:rPr>
              <a:t>建立模型物件</a:t>
            </a:r>
            <a:endParaRPr kumimoji="1" lang="en-US" altLang="zh-TW" sz="1600" dirty="0"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Consolas" panose="020B0609020204030204" pitchFamily="49" charset="0"/>
              </a:rPr>
              <a:t>tree = 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DecisionTreeClassifier</a:t>
            </a:r>
            <a:r>
              <a:rPr lang="en-US" altLang="zh-TW" sz="1600" dirty="0">
                <a:latin typeface="Consolas" panose="020B0609020204030204" pitchFamily="49" charset="0"/>
              </a:rPr>
              <a:t>(</a:t>
            </a:r>
            <a:r>
              <a:rPr lang="en-US" altLang="zh-TW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max_depth</a:t>
            </a:r>
            <a:r>
              <a:rPr lang="en-US" altLang="zh-TW" sz="1600" dirty="0">
                <a:latin typeface="Consolas" panose="020B0609020204030204" pitchFamily="49" charset="0"/>
              </a:rPr>
              <a:t>=2, </a:t>
            </a:r>
            <a:r>
              <a:rPr lang="en-US" altLang="zh-TW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random_state</a:t>
            </a:r>
            <a:r>
              <a:rPr lang="en-US" altLang="zh-TW" sz="16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600" dirty="0">
                <a:latin typeface="Consolas" panose="020B0609020204030204" pitchFamily="49" charset="0"/>
              </a:rPr>
              <a:t>= 36)</a:t>
            </a:r>
          </a:p>
          <a:p>
            <a:pPr>
              <a:lnSpc>
                <a:spcPct val="120000"/>
              </a:lnSpc>
            </a:pPr>
            <a:r>
              <a:rPr lang="zh-TW" altLang="en-US" sz="1600" dirty="0">
                <a:latin typeface="Consolas" panose="020B0609020204030204" pitchFamily="49" charset="0"/>
              </a:rPr>
              <a:t>訓練模型</a:t>
            </a:r>
            <a:endParaRPr lang="en-US" altLang="zh-TW" sz="1600" dirty="0"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 err="1">
                <a:latin typeface="Consolas" panose="020B0609020204030204" pitchFamily="49" charset="0"/>
              </a:rPr>
              <a:t>tree.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fit</a:t>
            </a:r>
            <a:r>
              <a:rPr lang="en-US" altLang="zh-TW" sz="1600" dirty="0">
                <a:latin typeface="Consolas" panose="020B0609020204030204" pitchFamily="49" charset="0"/>
              </a:rPr>
              <a:t>(</a:t>
            </a:r>
            <a:r>
              <a:rPr lang="en-US" altLang="zh-TW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X_train</a:t>
            </a:r>
            <a:r>
              <a:rPr lang="en-US" altLang="zh-TW" sz="1600" dirty="0">
                <a:latin typeface="Consolas" panose="020B0609020204030204" pitchFamily="49" charset="0"/>
              </a:rPr>
              <a:t>, </a:t>
            </a:r>
            <a:r>
              <a:rPr lang="en-US" altLang="zh-TW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y_train</a:t>
            </a:r>
            <a:r>
              <a:rPr lang="en-US" altLang="zh-TW" sz="1600" dirty="0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zh-TW" altLang="en-US" sz="1600" dirty="0">
                <a:latin typeface="Consolas" panose="020B0609020204030204" pitchFamily="49" charset="0"/>
              </a:rPr>
              <a:t>評估模型</a:t>
            </a:r>
            <a:endParaRPr lang="en-US" altLang="zh-TW" sz="1600" dirty="0"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>
                <a:latin typeface="Consolas" panose="020B0609020204030204" pitchFamily="49" charset="0"/>
              </a:rPr>
              <a:t>from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sklearn.</a:t>
            </a:r>
            <a:r>
              <a:rPr lang="en-US" altLang="zh-TW" sz="1600" dirty="0" err="1">
                <a:solidFill>
                  <a:srgbClr val="00B050"/>
                </a:solidFill>
                <a:latin typeface="Consolas" panose="020B0609020204030204" pitchFamily="49" charset="0"/>
              </a:rPr>
              <a:t>metrics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600" dirty="0">
                <a:latin typeface="Consolas" panose="020B0609020204030204" pitchFamily="49" charset="0"/>
              </a:rPr>
              <a:t>import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classification_report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confusion_matrix</a:t>
            </a:r>
            <a:endParaRPr lang="en-US" altLang="zh-TW" sz="16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 err="1">
                <a:solidFill>
                  <a:srgbClr val="7030A0"/>
                </a:solidFill>
                <a:latin typeface="Consolas" panose="020B0609020204030204" pitchFamily="49" charset="0"/>
              </a:rPr>
              <a:t>y_pred</a:t>
            </a:r>
            <a:r>
              <a:rPr lang="en-US" altLang="zh-TW" sz="16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tree_clf.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predict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X_test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rpt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classification_report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y_test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y_pred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zh-TW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效能矩陣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confMatrix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TW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confusion_matrix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y_test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TW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y_pred</a:t>
            </a:r>
            <a:r>
              <a:rPr lang="en-US" altLang="zh-TW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zh-TW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混淆矩陣</a:t>
            </a:r>
            <a:endParaRPr lang="en-US" altLang="zh-TW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20000"/>
              </a:lnSpc>
            </a:pPr>
            <a:r>
              <a:rPr lang="zh-TW" altLang="en-US" sz="1600" dirty="0">
                <a:latin typeface="Consolas" panose="020B0609020204030204" pitchFamily="49" charset="0"/>
              </a:rPr>
              <a:t>繪製</a:t>
            </a:r>
            <a:r>
              <a:rPr lang="en-US" altLang="zh-TW" sz="1600" dirty="0">
                <a:latin typeface="Consolas" panose="020B0609020204030204" pitchFamily="49" charset="0"/>
              </a:rPr>
              <a:t>ROC</a:t>
            </a:r>
            <a:r>
              <a:rPr lang="zh-TW" altLang="en-US" sz="1600" dirty="0">
                <a:latin typeface="Consolas" panose="020B0609020204030204" pitchFamily="49" charset="0"/>
              </a:rPr>
              <a:t>圖</a:t>
            </a:r>
            <a:endParaRPr lang="en-US" altLang="zh-TW" sz="1600" dirty="0"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RocCurveDisplay</a:t>
            </a: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roc_auc_score</a:t>
            </a:r>
            <a:endParaRPr lang="en" altLang="zh-TW" sz="16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RocCurveDisplay.from_estimator</a:t>
            </a: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(tree, </a:t>
            </a: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plt.title</a:t>
            </a: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("ROC Curve")</a:t>
            </a:r>
          </a:p>
          <a:p>
            <a:pPr lvl="1">
              <a:lnSpc>
                <a:spcPct val="120000"/>
              </a:lnSpc>
            </a:pPr>
            <a:r>
              <a:rPr lang="en" altLang="zh-TW" sz="16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plt.show</a:t>
            </a:r>
            <a:r>
              <a:rPr lang="en" altLang="zh-TW" sz="1600" b="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>
              <a:lnSpc>
                <a:spcPct val="120000"/>
              </a:lnSpc>
            </a:pPr>
            <a:endParaRPr lang="en-US" altLang="zh-TW" sz="1200" dirty="0">
              <a:latin typeface="Consolas" panose="020B0609020204030204" pitchFamily="49" charset="0"/>
            </a:endParaRPr>
          </a:p>
          <a:p>
            <a:pPr lvl="1">
              <a:lnSpc>
                <a:spcPct val="120000"/>
              </a:lnSpc>
            </a:pP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34937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379120-C74C-7E20-E0A7-BEA19D7ED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繪製決策樹圖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37B8AA-BF6D-4044-06D1-0773E9DEB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sklearn.tree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" altLang="zh-TW" sz="20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plot_tree</a:t>
            </a:r>
            <a:endParaRPr lang="en" altLang="zh-TW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" altLang="zh-TW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plt.figure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figsize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=(25,10))</a:t>
            </a:r>
          </a:p>
          <a:p>
            <a:r>
              <a:rPr lang="en" altLang="zh-TW" sz="2000" b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plot_tree</a:t>
            </a:r>
            <a:r>
              <a:rPr lang="en" altLang="zh-TW" sz="20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TW" sz="2000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tree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457200" lvl="1" indent="0">
              <a:buNone/>
            </a:pPr>
            <a:r>
              <a:rPr lang="en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feature_names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X_train.columns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marL="457200" lvl="1" indent="0">
              <a:buNone/>
            </a:pPr>
            <a:r>
              <a:rPr lang="en" altLang="zh-TW" sz="2000" b="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class_names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=["</a:t>
            </a:r>
            <a:r>
              <a:rPr lang="en" altLang="zh-TW" sz="2000" b="0" dirty="0" err="1">
                <a:latin typeface="Consolas" panose="020B0609020204030204" pitchFamily="49" charset="0"/>
                <a:cs typeface="Consolas" panose="020B0609020204030204" pitchFamily="49" charset="0"/>
              </a:rPr>
              <a:t>died","survived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"],</a:t>
            </a:r>
          </a:p>
          <a:p>
            <a:pPr marL="457200" lvl="1" indent="0">
              <a:buNone/>
            </a:pPr>
            <a:r>
              <a:rPr lang="en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filled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=True,</a:t>
            </a:r>
          </a:p>
          <a:p>
            <a:pPr marL="457200" lvl="1" indent="0">
              <a:buNone/>
            </a:pPr>
            <a:r>
              <a:rPr lang="en" altLang="zh-TW" sz="2000" b="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rounded</a:t>
            </a:r>
            <a:r>
              <a:rPr lang="en" altLang="zh-TW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=True</a:t>
            </a:r>
            <a:r>
              <a:rPr lang="en" altLang="zh-TW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3466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A1C4F35-B1AD-8E9F-7E70-6D32980F2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Bagging Tree</a:t>
            </a:r>
            <a:endParaRPr lang="zh-TW" altLang="en-US" dirty="0"/>
          </a:p>
        </p:txBody>
      </p:sp>
      <p:sp>
        <p:nvSpPr>
          <p:cNvPr id="5" name="副標題 4">
            <a:extLst>
              <a:ext uri="{FF2B5EF4-FFF2-40B4-BE49-F238E27FC236}">
                <a16:creationId xmlns:a16="http://schemas.microsoft.com/office/drawing/2014/main" id="{1054393D-68F1-840B-ACAF-4CF08FEF39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zh-TW" altLang="en-US" dirty="0"/>
              <a:t>決策樹合成模型</a:t>
            </a:r>
            <a:endParaRPr lang="en-US" altLang="zh-TW" dirty="0"/>
          </a:p>
          <a:p>
            <a:r>
              <a:rPr lang="en-US" altLang="zh-TW" dirty="0"/>
              <a:t>Ensemble models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1239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6B99F5-46E6-A51E-6E14-83BC54326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Booststrap</a:t>
            </a:r>
            <a:r>
              <a:rPr kumimoji="1" lang="en-US" altLang="zh-TW" dirty="0"/>
              <a:t> Aggregation (Bagging)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91CD29-F90D-FE0B-BE9E-B8B481EA3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TW" altLang="zh-TW" dirty="0"/>
              <a:t>合成方法(Ensemble</a:t>
            </a:r>
            <a:r>
              <a:rPr lang="en-US" altLang="zh-TW" dirty="0"/>
              <a:t> Method</a:t>
            </a:r>
            <a:r>
              <a:rPr lang="zh-TW" altLang="zh-TW" dirty="0"/>
              <a:t>)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zh-TW" altLang="zh-TW" dirty="0"/>
              <a:t>整合多個機器學習演算法</a:t>
            </a:r>
            <a:r>
              <a:rPr lang="en-US" altLang="zh-TW" dirty="0"/>
              <a:t>(multiple weak models)</a:t>
            </a:r>
            <a:r>
              <a:rPr lang="zh-TW" altLang="zh-TW" dirty="0"/>
              <a:t>獲得比單一模型更準確的預測結果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zh-TW" altLang="zh-TW" dirty="0"/>
              <a:t>使用bootstrap method 抽樣統計方法</a:t>
            </a:r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en-US" dirty="0"/>
              <a:t>建模過程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zh-TW" altLang="zh-TW" dirty="0"/>
              <a:t>隨機</a:t>
            </a:r>
            <a:r>
              <a:rPr lang="zh-TW" altLang="en-US" dirty="0"/>
              <a:t>抽樣</a:t>
            </a:r>
            <a:r>
              <a:rPr lang="zh-TW" altLang="zh-TW" dirty="0"/>
              <a:t>產生 n 個資料子集合，抽樣</a:t>
            </a:r>
            <a:r>
              <a:rPr lang="zh-TW" altLang="en-US" dirty="0"/>
              <a:t>資料</a:t>
            </a:r>
            <a:r>
              <a:rPr lang="zh-TW" altLang="zh-TW" dirty="0"/>
              <a:t>取後放回（sampleing with replacement)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zh-TW" altLang="zh-TW" dirty="0"/>
              <a:t>每一個資料子集合建立CART模型</a:t>
            </a:r>
            <a:endParaRPr lang="en-US" altLang="zh-TW" dirty="0"/>
          </a:p>
          <a:p>
            <a:pPr lvl="2">
              <a:lnSpc>
                <a:spcPct val="110000"/>
              </a:lnSpc>
            </a:pPr>
            <a:r>
              <a:rPr lang="zh-TW" altLang="zh-TW" dirty="0"/>
              <a:t>不考慮overfitting問題，建立完整樹（深度越深越好）不需修剪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zh-TW" altLang="en-US" dirty="0"/>
              <a:t>預測</a:t>
            </a:r>
            <a:r>
              <a:rPr lang="zh-TW" altLang="zh-TW" dirty="0"/>
              <a:t>新資料</a:t>
            </a:r>
            <a:r>
              <a:rPr lang="zh-TW" altLang="en-US" dirty="0"/>
              <a:t>時</a:t>
            </a:r>
            <a:endParaRPr lang="en-US" altLang="zh-TW" dirty="0"/>
          </a:p>
          <a:p>
            <a:pPr lvl="2">
              <a:lnSpc>
                <a:spcPct val="110000"/>
              </a:lnSpc>
            </a:pPr>
            <a:r>
              <a:rPr lang="zh-TW" altLang="zh-TW" dirty="0"/>
              <a:t>計算每棵樹預測結果的平均值（回歸）</a:t>
            </a:r>
            <a:endParaRPr lang="en-US" altLang="zh-TW" dirty="0"/>
          </a:p>
          <a:p>
            <a:pPr lvl="2">
              <a:lnSpc>
                <a:spcPct val="110000"/>
              </a:lnSpc>
            </a:pPr>
            <a:r>
              <a:rPr lang="zh-TW" altLang="zh-TW" dirty="0"/>
              <a:t>依據每棵樹預測結果多數表決（分類）</a:t>
            </a:r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zh-TW" dirty="0"/>
              <a:t>抽樣的</a:t>
            </a:r>
            <a:r>
              <a:rPr lang="zh-TW" altLang="en-US" dirty="0"/>
              <a:t>資料</a:t>
            </a:r>
            <a:r>
              <a:rPr lang="zh-TW" altLang="zh-TW" dirty="0"/>
              <a:t>樣本數及</a:t>
            </a:r>
            <a:r>
              <a:rPr lang="zh-TW" altLang="en-US" dirty="0"/>
              <a:t>合成的模型數量</a:t>
            </a:r>
            <a:r>
              <a:rPr lang="zh-TW" altLang="zh-TW" dirty="0"/>
              <a:t>影響結果</a:t>
            </a:r>
          </a:p>
          <a:p>
            <a:pPr>
              <a:lnSpc>
                <a:spcPct val="110000"/>
              </a:lnSpc>
            </a:pPr>
            <a:endParaRPr lang="zh-TW" altLang="zh-TW" dirty="0"/>
          </a:p>
          <a:p>
            <a:pPr lvl="1">
              <a:lnSpc>
                <a:spcPct val="110000"/>
              </a:lnSpc>
            </a:pPr>
            <a:endParaRPr lang="zh-TW" altLang="zh-TW" dirty="0"/>
          </a:p>
          <a:p>
            <a:pPr lvl="1">
              <a:lnSpc>
                <a:spcPct val="110000"/>
              </a:lnSpc>
            </a:pPr>
            <a:endParaRPr lang="zh-TW" altLang="zh-TW" dirty="0"/>
          </a:p>
          <a:p>
            <a:pPr lvl="1">
              <a:lnSpc>
                <a:spcPct val="110000"/>
              </a:lnSpc>
            </a:pPr>
            <a:endParaRPr lang="zh-TW" altLang="zh-TW" dirty="0"/>
          </a:p>
          <a:p>
            <a:pPr lvl="1">
              <a:lnSpc>
                <a:spcPct val="110000"/>
              </a:lnSpc>
            </a:pPr>
            <a:endParaRPr lang="en-US" altLang="zh-TW" dirty="0"/>
          </a:p>
          <a:p>
            <a:pPr lvl="1">
              <a:lnSpc>
                <a:spcPct val="110000"/>
              </a:lnSpc>
            </a:pPr>
            <a:endParaRPr lang="zh-TW" altLang="zh-TW" dirty="0"/>
          </a:p>
          <a:p>
            <a:pPr>
              <a:lnSpc>
                <a:spcPct val="110000"/>
              </a:lnSpc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0562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柱 3">
            <a:extLst>
              <a:ext uri="{FF2B5EF4-FFF2-40B4-BE49-F238E27FC236}">
                <a16:creationId xmlns:a16="http://schemas.microsoft.com/office/drawing/2014/main" id="{ED7A0695-F5DB-F413-1F23-F8726A98B681}"/>
              </a:ext>
            </a:extLst>
          </p:cNvPr>
          <p:cNvSpPr/>
          <p:nvPr/>
        </p:nvSpPr>
        <p:spPr>
          <a:xfrm>
            <a:off x="950354" y="3011424"/>
            <a:ext cx="914400" cy="1216152"/>
          </a:xfrm>
          <a:prstGeom prst="can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件 4">
            <a:extLst>
              <a:ext uri="{FF2B5EF4-FFF2-40B4-BE49-F238E27FC236}">
                <a16:creationId xmlns:a16="http://schemas.microsoft.com/office/drawing/2014/main" id="{EEF91153-B05D-DB16-F5E7-77C6BD977BE2}"/>
              </a:ext>
            </a:extLst>
          </p:cNvPr>
          <p:cNvSpPr/>
          <p:nvPr/>
        </p:nvSpPr>
        <p:spPr>
          <a:xfrm>
            <a:off x="3766535" y="1388236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件 5">
            <a:extLst>
              <a:ext uri="{FF2B5EF4-FFF2-40B4-BE49-F238E27FC236}">
                <a16:creationId xmlns:a16="http://schemas.microsoft.com/office/drawing/2014/main" id="{C7C19D87-9AC8-2A2C-0EB2-478AC9EE0792}"/>
              </a:ext>
            </a:extLst>
          </p:cNvPr>
          <p:cNvSpPr/>
          <p:nvPr/>
        </p:nvSpPr>
        <p:spPr>
          <a:xfrm>
            <a:off x="3766535" y="2652038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文件 7">
            <a:extLst>
              <a:ext uri="{FF2B5EF4-FFF2-40B4-BE49-F238E27FC236}">
                <a16:creationId xmlns:a16="http://schemas.microsoft.com/office/drawing/2014/main" id="{204CE109-D93E-1D66-8915-09372B5BD5D0}"/>
              </a:ext>
            </a:extLst>
          </p:cNvPr>
          <p:cNvSpPr/>
          <p:nvPr/>
        </p:nvSpPr>
        <p:spPr>
          <a:xfrm>
            <a:off x="3766535" y="4045097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文件 9">
            <a:extLst>
              <a:ext uri="{FF2B5EF4-FFF2-40B4-BE49-F238E27FC236}">
                <a16:creationId xmlns:a16="http://schemas.microsoft.com/office/drawing/2014/main" id="{622D8297-F2B6-EB40-7DE0-3158059CBCB1}"/>
              </a:ext>
            </a:extLst>
          </p:cNvPr>
          <p:cNvSpPr/>
          <p:nvPr/>
        </p:nvSpPr>
        <p:spPr>
          <a:xfrm>
            <a:off x="3766535" y="5698364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12" name="圖片 11" descr="員山生態教育館: 大樹呼救，誰人知？">
            <a:extLst>
              <a:ext uri="{FF2B5EF4-FFF2-40B4-BE49-F238E27FC236}">
                <a16:creationId xmlns:a16="http://schemas.microsoft.com/office/drawing/2014/main" id="{23E93C18-1E81-0D36-023C-54209052A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49364" y="1101837"/>
            <a:ext cx="1117282" cy="1185445"/>
          </a:xfrm>
          <a:prstGeom prst="rect">
            <a:avLst/>
          </a:prstGeom>
        </p:spPr>
      </p:pic>
      <p:pic>
        <p:nvPicPr>
          <p:cNvPr id="14" name="圖片 13" descr="員山生態教育館: 大樹呼救，誰人知？">
            <a:extLst>
              <a:ext uri="{FF2B5EF4-FFF2-40B4-BE49-F238E27FC236}">
                <a16:creationId xmlns:a16="http://schemas.microsoft.com/office/drawing/2014/main" id="{06BD6C04-7798-6B4E-22A1-59B1AD0D6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49364" y="2365639"/>
            <a:ext cx="1117282" cy="1185445"/>
          </a:xfrm>
          <a:prstGeom prst="rect">
            <a:avLst/>
          </a:prstGeom>
        </p:spPr>
      </p:pic>
      <p:pic>
        <p:nvPicPr>
          <p:cNvPr id="16" name="圖片 15" descr="員山生態教育館: 大樹呼救，誰人知？">
            <a:extLst>
              <a:ext uri="{FF2B5EF4-FFF2-40B4-BE49-F238E27FC236}">
                <a16:creationId xmlns:a16="http://schemas.microsoft.com/office/drawing/2014/main" id="{F2A194F5-3BC8-451D-E65D-F1BF114E0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68891" y="3758699"/>
            <a:ext cx="1117282" cy="1185445"/>
          </a:xfrm>
          <a:prstGeom prst="rect">
            <a:avLst/>
          </a:prstGeom>
        </p:spPr>
      </p:pic>
      <p:pic>
        <p:nvPicPr>
          <p:cNvPr id="18" name="圖片 17" descr="員山生態教育館: 大樹呼救，誰人知？">
            <a:extLst>
              <a:ext uri="{FF2B5EF4-FFF2-40B4-BE49-F238E27FC236}">
                <a16:creationId xmlns:a16="http://schemas.microsoft.com/office/drawing/2014/main" id="{E66ACB3A-60F8-763F-052C-EBDB43565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98882" y="5411965"/>
            <a:ext cx="1117282" cy="1185445"/>
          </a:xfrm>
          <a:prstGeom prst="rect">
            <a:avLst/>
          </a:prstGeom>
        </p:spPr>
      </p:pic>
      <p:sp>
        <p:nvSpPr>
          <p:cNvPr id="20" name="向右箭號圖說文字 19">
            <a:extLst>
              <a:ext uri="{FF2B5EF4-FFF2-40B4-BE49-F238E27FC236}">
                <a16:creationId xmlns:a16="http://schemas.microsoft.com/office/drawing/2014/main" id="{0EE28640-8D13-ED9F-3A23-5F56852DC629}"/>
              </a:ext>
            </a:extLst>
          </p:cNvPr>
          <p:cNvSpPr/>
          <p:nvPr/>
        </p:nvSpPr>
        <p:spPr>
          <a:xfrm>
            <a:off x="9592275" y="3301499"/>
            <a:ext cx="914400" cy="914400"/>
          </a:xfrm>
          <a:prstGeom prst="rightArrowCallou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C58BB626-B129-52BF-618A-A892ED84E879}"/>
              </a:ext>
            </a:extLst>
          </p:cNvPr>
          <p:cNvCxnSpPr>
            <a:stCxn id="4" idx="4"/>
            <a:endCxn id="5" idx="1"/>
          </p:cNvCxnSpPr>
          <p:nvPr/>
        </p:nvCxnSpPr>
        <p:spPr>
          <a:xfrm flipV="1">
            <a:off x="1864754" y="1694560"/>
            <a:ext cx="1901781" cy="1924940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0477C8C8-3B8F-A7CA-45BC-4E2524924681}"/>
              </a:ext>
            </a:extLst>
          </p:cNvPr>
          <p:cNvCxnSpPr>
            <a:cxnSpLocks/>
            <a:stCxn id="4" idx="4"/>
            <a:endCxn id="6" idx="1"/>
          </p:cNvCxnSpPr>
          <p:nvPr/>
        </p:nvCxnSpPr>
        <p:spPr>
          <a:xfrm flipV="1">
            <a:off x="1864754" y="2958362"/>
            <a:ext cx="1901781" cy="661138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D0950F3B-F950-1E5C-F79B-8B1FB4E3E56D}"/>
              </a:ext>
            </a:extLst>
          </p:cNvPr>
          <p:cNvCxnSpPr>
            <a:cxnSpLocks/>
            <a:stCxn id="4" idx="4"/>
            <a:endCxn id="8" idx="1"/>
          </p:cNvCxnSpPr>
          <p:nvPr/>
        </p:nvCxnSpPr>
        <p:spPr>
          <a:xfrm>
            <a:off x="1864754" y="3619500"/>
            <a:ext cx="1901781" cy="731921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DE3C7C3E-B4BB-38FA-5E99-351AC92CA355}"/>
              </a:ext>
            </a:extLst>
          </p:cNvPr>
          <p:cNvCxnSpPr>
            <a:cxnSpLocks/>
            <a:stCxn id="4" idx="4"/>
            <a:endCxn id="10" idx="1"/>
          </p:cNvCxnSpPr>
          <p:nvPr/>
        </p:nvCxnSpPr>
        <p:spPr>
          <a:xfrm>
            <a:off x="1864754" y="3619500"/>
            <a:ext cx="1901781" cy="2385188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7750C549-5355-1958-CD76-BEDDCCB1EB23}"/>
              </a:ext>
            </a:extLst>
          </p:cNvPr>
          <p:cNvCxnSpPr>
            <a:stCxn id="5" idx="3"/>
          </p:cNvCxnSpPr>
          <p:nvPr/>
        </p:nvCxnSpPr>
        <p:spPr>
          <a:xfrm flipV="1">
            <a:off x="4680935" y="1694559"/>
            <a:ext cx="1605565" cy="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6D781889-5A54-B578-3751-EEE22A74C70D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4680935" y="2958362"/>
            <a:ext cx="1668429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D8EC6167-C552-8012-623C-4DB8C256F18F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4680935" y="4351421"/>
            <a:ext cx="1687956" cy="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BD855FE3-6176-816B-B212-82B913066129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4680935" y="6004688"/>
            <a:ext cx="161794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C5688864-D2FE-1615-BDAA-13007869C385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>
            <a:off x="7466646" y="1694560"/>
            <a:ext cx="2125629" cy="20641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5ACA3822-0BF7-6D29-0CA0-73D82FA1FB37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7486173" y="3758699"/>
            <a:ext cx="2106102" cy="5927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D4F01F33-96E5-398A-EC0A-81AE6B9ADE6E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>
            <a:off x="7466646" y="2958362"/>
            <a:ext cx="2125629" cy="80033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204A1214-726C-EE95-5F87-3BD1EB9C3CD9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7416164" y="3758699"/>
            <a:ext cx="2176111" cy="22459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73EF647-FE13-C4F2-6763-323C592E6C97}"/>
              </a:ext>
            </a:extLst>
          </p:cNvPr>
          <p:cNvSpPr txBox="1"/>
          <p:nvPr/>
        </p:nvSpPr>
        <p:spPr>
          <a:xfrm>
            <a:off x="721955" y="448158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訓練資料集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AD7F831-482B-D11D-7227-E16535462563}"/>
              </a:ext>
            </a:extLst>
          </p:cNvPr>
          <p:cNvSpPr txBox="1"/>
          <p:nvPr/>
        </p:nvSpPr>
        <p:spPr>
          <a:xfrm>
            <a:off x="3760221" y="6417689"/>
            <a:ext cx="115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建模資料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C7E2EBC-01D1-40B1-F9C0-70F76A8444FD}"/>
              </a:ext>
            </a:extLst>
          </p:cNvPr>
          <p:cNvSpPr txBox="1"/>
          <p:nvPr/>
        </p:nvSpPr>
        <p:spPr>
          <a:xfrm>
            <a:off x="6927532" y="6287843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CART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7ACCA657-5030-093E-0F87-16F8EA5782E1}"/>
              </a:ext>
            </a:extLst>
          </p:cNvPr>
          <p:cNvSpPr txBox="1"/>
          <p:nvPr/>
        </p:nvSpPr>
        <p:spPr>
          <a:xfrm>
            <a:off x="10327246" y="3151092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預測回歸結果</a:t>
            </a:r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預測分類結果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4F2626A5-2FB5-DA3C-373D-C7B909C132ED}"/>
              </a:ext>
            </a:extLst>
          </p:cNvPr>
          <p:cNvSpPr txBox="1"/>
          <p:nvPr/>
        </p:nvSpPr>
        <p:spPr>
          <a:xfrm>
            <a:off x="1077415" y="1796376"/>
            <a:ext cx="2071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隨機抽樣</a:t>
            </a:r>
            <a:r>
              <a:rPr kumimoji="1" lang="en-US" altLang="zh-TW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n </a:t>
            </a:r>
            <a:r>
              <a:rPr kumimoji="1" lang="zh-TW" altLang="en-US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組資料</a:t>
            </a:r>
            <a:endParaRPr kumimoji="1" lang="en-US" altLang="zh-TW" dirty="0">
              <a:solidFill>
                <a:srgbClr val="0432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每組資料數量為 </a:t>
            </a:r>
            <a:r>
              <a:rPr kumimoji="1" lang="en-US" altLang="zh-TW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</a:t>
            </a:r>
            <a:endParaRPr kumimoji="1" lang="zh-TW" altLang="en-US" dirty="0">
              <a:solidFill>
                <a:srgbClr val="0432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62CBFF88-FDBB-CCED-32B4-E712A9A2BD9A}"/>
              </a:ext>
            </a:extLst>
          </p:cNvPr>
          <p:cNvSpPr txBox="1"/>
          <p:nvPr/>
        </p:nvSpPr>
        <p:spPr>
          <a:xfrm>
            <a:off x="8932193" y="2672298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平均 </a:t>
            </a:r>
            <a:r>
              <a:rPr kumimoji="1" lang="en-US" altLang="zh-TW" b="1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r>
              <a:rPr kumimoji="1" lang="zh-TW" altLang="en-US" b="1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棵樹的預測結果</a:t>
            </a:r>
          </a:p>
        </p:txBody>
      </p:sp>
      <p:sp>
        <p:nvSpPr>
          <p:cNvPr id="65" name="標題 64">
            <a:extLst>
              <a:ext uri="{FF2B5EF4-FFF2-40B4-BE49-F238E27FC236}">
                <a16:creationId xmlns:a16="http://schemas.microsoft.com/office/drawing/2014/main" id="{FA0C29AB-1A2F-84E3-EE81-E9D3D2C02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900"/>
            <a:ext cx="10515600" cy="1325563"/>
          </a:xfrm>
        </p:spPr>
        <p:txBody>
          <a:bodyPr/>
          <a:lstStyle/>
          <a:p>
            <a:r>
              <a:rPr lang="en-US" altLang="zh-TW" dirty="0"/>
              <a:t>Bagging</a:t>
            </a:r>
            <a:endParaRPr lang="zh-TW" altLang="en-US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EC3D7026-8BD6-2A59-9F7F-0ABA3A2CC78B}"/>
              </a:ext>
            </a:extLst>
          </p:cNvPr>
          <p:cNvSpPr txBox="1"/>
          <p:nvPr/>
        </p:nvSpPr>
        <p:spPr>
          <a:xfrm>
            <a:off x="7486173" y="10526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完整樹不需修剪</a:t>
            </a:r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B0B3565F-A765-521D-D697-7544F2FEE860}"/>
              </a:ext>
            </a:extLst>
          </p:cNvPr>
          <p:cNvSpPr txBox="1"/>
          <p:nvPr/>
        </p:nvSpPr>
        <p:spPr>
          <a:xfrm>
            <a:off x="3544465" y="685884"/>
            <a:ext cx="3026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b="1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抽樣產生特徵因子集用於每個「分支」選取特徵因子</a:t>
            </a:r>
            <a:endParaRPr kumimoji="1" lang="zh-TW" altLang="en-US" b="1" dirty="0">
              <a:solidFill>
                <a:srgbClr val="FF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116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1ACCF6CD-97AB-D652-A7A3-E78C692019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隨機森林模型</a:t>
            </a:r>
          </a:p>
        </p:txBody>
      </p:sp>
      <p:sp>
        <p:nvSpPr>
          <p:cNvPr id="4" name="副標題 3">
            <a:extLst>
              <a:ext uri="{FF2B5EF4-FFF2-40B4-BE49-F238E27FC236}">
                <a16:creationId xmlns:a16="http://schemas.microsoft.com/office/drawing/2014/main" id="{CD30025F-E63F-8529-04A2-7E0CBD46E9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Random Forest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31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FB6AF883-0DA4-5DD8-2EE1-7CC75916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隨機森林模型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0B9B77C2-D604-C047-ED01-862A39AEDB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zh-TW" altLang="zh-TW" dirty="0"/>
                  <a:t>延伸Bagging Tree的做法，使用bootstrap產生不同的訓練子集合</a:t>
                </a:r>
              </a:p>
              <a:p>
                <a:pPr>
                  <a:lnSpc>
                    <a:spcPct val="110000"/>
                  </a:lnSpc>
                </a:pPr>
                <a:r>
                  <a:rPr lang="zh-TW" altLang="zh-TW" dirty="0"/>
                  <a:t>抽樣產生特徵因子集用於每個「分支」選取特徵因子</a:t>
                </a:r>
                <a:endParaRPr lang="en-US" altLang="zh-TW" dirty="0"/>
              </a:p>
              <a:p>
                <a:pPr lvl="1">
                  <a:lnSpc>
                    <a:spcPct val="110000"/>
                  </a:lnSpc>
                </a:pPr>
                <a:r>
                  <a:rPr lang="zh-TW" altLang="zh-TW" dirty="0"/>
                  <a:t>分類問題</a:t>
                </a:r>
                <a:r>
                  <a:rPr lang="zh-TW" altLang="en-US" dirty="0"/>
                  <a:t>隨機</a:t>
                </a:r>
                <a:r>
                  <a:rPr lang="zh-TW" altLang="zh-TW" dirty="0"/>
                  <a:t>取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  <m:r>
                      <a:rPr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dirty="0"/>
                  <a:t>個特徵因子</a:t>
                </a:r>
                <a:endParaRPr lang="en-US" altLang="zh-TW" dirty="0"/>
              </a:p>
              <a:p>
                <a:pPr lvl="1">
                  <a:lnSpc>
                    <a:spcPct val="110000"/>
                  </a:lnSpc>
                </a:pPr>
                <a:r>
                  <a:rPr lang="zh-TW" altLang="zh-TW" dirty="0"/>
                  <a:t>回歸問題</a:t>
                </a:r>
                <a:r>
                  <a:rPr lang="zh-TW" altLang="en-US" dirty="0"/>
                  <a:t>隨機</a:t>
                </a:r>
                <a:r>
                  <a:rPr lang="zh-TW" altLang="zh-TW" dirty="0"/>
                  <a:t>取</a:t>
                </a:r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TW" altLang="zh-TW" dirty="0"/>
                  <a:t> </a:t>
                </a:r>
                <a:r>
                  <a:rPr lang="zh-TW" altLang="en-US" dirty="0"/>
                  <a:t>個特徵因子</a:t>
                </a:r>
                <a:endParaRPr lang="en-US" altLang="zh-TW" dirty="0"/>
              </a:p>
              <a:p>
                <a:pPr>
                  <a:lnSpc>
                    <a:spcPct val="110000"/>
                  </a:lnSpc>
                </a:pPr>
                <a:r>
                  <a:rPr lang="zh-TW" altLang="en-US" dirty="0"/>
                  <a:t>可用於「回歸」與「分類」預測</a:t>
                </a:r>
                <a:endParaRPr lang="en-US" altLang="zh-TW" dirty="0"/>
              </a:p>
              <a:p>
                <a:pPr lvl="1">
                  <a:lnSpc>
                    <a:spcPct val="110000"/>
                  </a:lnSpc>
                </a:pPr>
                <a:r>
                  <a:rPr lang="zh-TW" altLang="zh-TW" dirty="0"/>
                  <a:t>RandomForestRegressor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zh-TW" altLang="zh-TW" dirty="0"/>
                  <a:t>RandomForestClassifier</a:t>
                </a:r>
              </a:p>
              <a:p>
                <a:pPr>
                  <a:lnSpc>
                    <a:spcPct val="110000"/>
                  </a:lnSpc>
                </a:pPr>
                <a:r>
                  <a:rPr lang="zh-TW" altLang="zh-TW" dirty="0"/>
                  <a:t>RF為一種隨機學習演算法(stochastic learning algorithm)，適合運用執行多次取平均的方式獲得效能評估，適</a:t>
                </a:r>
                <a:r>
                  <a:rPr lang="zh-TW" altLang="en-US" dirty="0"/>
                  <a:t>合彩</a:t>
                </a:r>
                <a:r>
                  <a:rPr lang="zh-TW" altLang="zh-TW" dirty="0"/>
                  <a:t>用交叉驗證(cross-validation)</a:t>
                </a:r>
              </a:p>
              <a:p>
                <a:pPr>
                  <a:lnSpc>
                    <a:spcPct val="110000"/>
                  </a:lnSpc>
                </a:pPr>
                <a:endParaRPr lang="zh-TW" altLang="zh-TW" dirty="0"/>
              </a:p>
              <a:p>
                <a:pPr lvl="1">
                  <a:lnSpc>
                    <a:spcPct val="110000"/>
                  </a:lnSpc>
                </a:pPr>
                <a:endParaRPr lang="zh-TW" altLang="zh-TW" dirty="0"/>
              </a:p>
              <a:p>
                <a:pPr>
                  <a:lnSpc>
                    <a:spcPct val="110000"/>
                  </a:lnSpc>
                </a:pPr>
                <a:endParaRPr lang="zh-TW" altLang="en-US" dirty="0"/>
              </a:p>
            </p:txBody>
          </p:sp>
        </mc:Choice>
        <mc:Fallback>
          <p:sp>
            <p:nvSpPr>
              <p:cNvPr id="4" name="內容版面配置區 3">
                <a:extLst>
                  <a:ext uri="{FF2B5EF4-FFF2-40B4-BE49-F238E27FC236}">
                    <a16:creationId xmlns:a16="http://schemas.microsoft.com/office/drawing/2014/main" id="{0B9B77C2-D604-C047-ED01-862A39AED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0" t="-1266" b="-10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52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CCB3D-DB7D-3ACE-C818-A8A45DC6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圓柱 3">
            <a:extLst>
              <a:ext uri="{FF2B5EF4-FFF2-40B4-BE49-F238E27FC236}">
                <a16:creationId xmlns:a16="http://schemas.microsoft.com/office/drawing/2014/main" id="{76AC9575-BAFE-FE8B-4C0C-2BCB5272F4F2}"/>
              </a:ext>
            </a:extLst>
          </p:cNvPr>
          <p:cNvSpPr/>
          <p:nvPr/>
        </p:nvSpPr>
        <p:spPr>
          <a:xfrm>
            <a:off x="950354" y="3011424"/>
            <a:ext cx="914400" cy="1216152"/>
          </a:xfrm>
          <a:prstGeom prst="can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" name="文件 4">
            <a:extLst>
              <a:ext uri="{FF2B5EF4-FFF2-40B4-BE49-F238E27FC236}">
                <a16:creationId xmlns:a16="http://schemas.microsoft.com/office/drawing/2014/main" id="{B2E274B8-5D06-303A-1B87-496826C5DB04}"/>
              </a:ext>
            </a:extLst>
          </p:cNvPr>
          <p:cNvSpPr/>
          <p:nvPr/>
        </p:nvSpPr>
        <p:spPr>
          <a:xfrm>
            <a:off x="3766535" y="1388236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文件 5">
            <a:extLst>
              <a:ext uri="{FF2B5EF4-FFF2-40B4-BE49-F238E27FC236}">
                <a16:creationId xmlns:a16="http://schemas.microsoft.com/office/drawing/2014/main" id="{8E0D70D3-E7FA-343D-8E7C-93AB2630FFAD}"/>
              </a:ext>
            </a:extLst>
          </p:cNvPr>
          <p:cNvSpPr/>
          <p:nvPr/>
        </p:nvSpPr>
        <p:spPr>
          <a:xfrm>
            <a:off x="3766535" y="2652038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文件 7">
            <a:extLst>
              <a:ext uri="{FF2B5EF4-FFF2-40B4-BE49-F238E27FC236}">
                <a16:creationId xmlns:a16="http://schemas.microsoft.com/office/drawing/2014/main" id="{0FDCB023-E475-0242-DA24-7FA87B6393CE}"/>
              </a:ext>
            </a:extLst>
          </p:cNvPr>
          <p:cNvSpPr/>
          <p:nvPr/>
        </p:nvSpPr>
        <p:spPr>
          <a:xfrm>
            <a:off x="3766535" y="4045097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文件 9">
            <a:extLst>
              <a:ext uri="{FF2B5EF4-FFF2-40B4-BE49-F238E27FC236}">
                <a16:creationId xmlns:a16="http://schemas.microsoft.com/office/drawing/2014/main" id="{15CFD449-A666-63DC-9188-4B44CDDDD8D0}"/>
              </a:ext>
            </a:extLst>
          </p:cNvPr>
          <p:cNvSpPr/>
          <p:nvPr/>
        </p:nvSpPr>
        <p:spPr>
          <a:xfrm>
            <a:off x="3766535" y="5698364"/>
            <a:ext cx="914400" cy="612648"/>
          </a:xfrm>
          <a:prstGeom prst="flowChartDocument">
            <a:avLst/>
          </a:prstGeom>
          <a:solidFill>
            <a:srgbClr val="FFFF00"/>
          </a:solidFill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pic>
        <p:nvPicPr>
          <p:cNvPr id="12" name="圖片 11" descr="員山生態教育館: 大樹呼救，誰人知？">
            <a:extLst>
              <a:ext uri="{FF2B5EF4-FFF2-40B4-BE49-F238E27FC236}">
                <a16:creationId xmlns:a16="http://schemas.microsoft.com/office/drawing/2014/main" id="{0A3657E7-D64B-5A7A-2297-CD4E8E74C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49364" y="1101837"/>
            <a:ext cx="1117282" cy="1185445"/>
          </a:xfrm>
          <a:prstGeom prst="rect">
            <a:avLst/>
          </a:prstGeom>
        </p:spPr>
      </p:pic>
      <p:pic>
        <p:nvPicPr>
          <p:cNvPr id="14" name="圖片 13" descr="員山生態教育館: 大樹呼救，誰人知？">
            <a:extLst>
              <a:ext uri="{FF2B5EF4-FFF2-40B4-BE49-F238E27FC236}">
                <a16:creationId xmlns:a16="http://schemas.microsoft.com/office/drawing/2014/main" id="{066FC0F7-DA8C-8D16-BC4F-EA639F627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49364" y="2365639"/>
            <a:ext cx="1117282" cy="1185445"/>
          </a:xfrm>
          <a:prstGeom prst="rect">
            <a:avLst/>
          </a:prstGeom>
        </p:spPr>
      </p:pic>
      <p:pic>
        <p:nvPicPr>
          <p:cNvPr id="16" name="圖片 15" descr="員山生態教育館: 大樹呼救，誰人知？">
            <a:extLst>
              <a:ext uri="{FF2B5EF4-FFF2-40B4-BE49-F238E27FC236}">
                <a16:creationId xmlns:a16="http://schemas.microsoft.com/office/drawing/2014/main" id="{0BD6D03F-9965-02BD-08EF-4FA8F36D1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68891" y="3758699"/>
            <a:ext cx="1117282" cy="1185445"/>
          </a:xfrm>
          <a:prstGeom prst="rect">
            <a:avLst/>
          </a:prstGeom>
        </p:spPr>
      </p:pic>
      <p:pic>
        <p:nvPicPr>
          <p:cNvPr id="18" name="圖片 17" descr="員山生態教育館: 大樹呼救，誰人知？">
            <a:extLst>
              <a:ext uri="{FF2B5EF4-FFF2-40B4-BE49-F238E27FC236}">
                <a16:creationId xmlns:a16="http://schemas.microsoft.com/office/drawing/2014/main" id="{9C317C9E-6200-3A9D-AD89-B48D0263A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98882" y="5411965"/>
            <a:ext cx="1117282" cy="1185445"/>
          </a:xfrm>
          <a:prstGeom prst="rect">
            <a:avLst/>
          </a:prstGeom>
        </p:spPr>
      </p:pic>
      <p:sp>
        <p:nvSpPr>
          <p:cNvPr id="20" name="向右箭號圖說文字 19">
            <a:extLst>
              <a:ext uri="{FF2B5EF4-FFF2-40B4-BE49-F238E27FC236}">
                <a16:creationId xmlns:a16="http://schemas.microsoft.com/office/drawing/2014/main" id="{F5505661-76A9-606E-D5D0-F1150422B88D}"/>
              </a:ext>
            </a:extLst>
          </p:cNvPr>
          <p:cNvSpPr/>
          <p:nvPr/>
        </p:nvSpPr>
        <p:spPr>
          <a:xfrm>
            <a:off x="9592275" y="3301499"/>
            <a:ext cx="914400" cy="914400"/>
          </a:xfrm>
          <a:prstGeom prst="rightArrowCallou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EEB969E0-F612-F68D-6319-F1E88A5AEC74}"/>
              </a:ext>
            </a:extLst>
          </p:cNvPr>
          <p:cNvCxnSpPr>
            <a:stCxn id="4" idx="4"/>
            <a:endCxn id="5" idx="1"/>
          </p:cNvCxnSpPr>
          <p:nvPr/>
        </p:nvCxnSpPr>
        <p:spPr>
          <a:xfrm flipV="1">
            <a:off x="1864754" y="1694560"/>
            <a:ext cx="1901781" cy="1924940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9C192284-7FA0-BCEA-C6D2-1AC0736FD29E}"/>
              </a:ext>
            </a:extLst>
          </p:cNvPr>
          <p:cNvCxnSpPr>
            <a:cxnSpLocks/>
            <a:stCxn id="4" idx="4"/>
            <a:endCxn id="6" idx="1"/>
          </p:cNvCxnSpPr>
          <p:nvPr/>
        </p:nvCxnSpPr>
        <p:spPr>
          <a:xfrm flipV="1">
            <a:off x="1864754" y="2958362"/>
            <a:ext cx="1901781" cy="661138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1A011FBF-6B11-BF64-9DC8-48AE3188E9D5}"/>
              </a:ext>
            </a:extLst>
          </p:cNvPr>
          <p:cNvCxnSpPr>
            <a:cxnSpLocks/>
            <a:stCxn id="4" idx="4"/>
            <a:endCxn id="8" idx="1"/>
          </p:cNvCxnSpPr>
          <p:nvPr/>
        </p:nvCxnSpPr>
        <p:spPr>
          <a:xfrm>
            <a:off x="1864754" y="3619500"/>
            <a:ext cx="1901781" cy="731921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45DC12AE-F6D4-C0D0-FDC8-924E646836EE}"/>
              </a:ext>
            </a:extLst>
          </p:cNvPr>
          <p:cNvCxnSpPr>
            <a:cxnSpLocks/>
            <a:stCxn id="4" idx="4"/>
            <a:endCxn id="10" idx="1"/>
          </p:cNvCxnSpPr>
          <p:nvPr/>
        </p:nvCxnSpPr>
        <p:spPr>
          <a:xfrm>
            <a:off x="1864754" y="3619500"/>
            <a:ext cx="1901781" cy="2385188"/>
          </a:xfrm>
          <a:prstGeom prst="straightConnector1">
            <a:avLst/>
          </a:prstGeom>
          <a:ln w="19050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EBB72F93-C645-7661-0E1C-DFAA3815B235}"/>
              </a:ext>
            </a:extLst>
          </p:cNvPr>
          <p:cNvCxnSpPr>
            <a:stCxn id="5" idx="3"/>
          </p:cNvCxnSpPr>
          <p:nvPr/>
        </p:nvCxnSpPr>
        <p:spPr>
          <a:xfrm flipV="1">
            <a:off x="4680935" y="1694559"/>
            <a:ext cx="1605565" cy="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BB9C6F80-8387-82EE-B2B8-9090D4F14202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4680935" y="2958362"/>
            <a:ext cx="1668429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18F71EFD-C425-13AF-F5B0-83F87F38C53C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4680935" y="4351421"/>
            <a:ext cx="1687956" cy="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F0FFFEEC-F535-BF0D-B034-545225FA11C8}"/>
              </a:ext>
            </a:extLst>
          </p:cNvPr>
          <p:cNvCxnSpPr>
            <a:cxnSpLocks/>
            <a:stCxn id="10" idx="3"/>
            <a:endCxn id="18" idx="1"/>
          </p:cNvCxnSpPr>
          <p:nvPr/>
        </p:nvCxnSpPr>
        <p:spPr>
          <a:xfrm>
            <a:off x="4680935" y="6004688"/>
            <a:ext cx="1617947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61BF1506-56D8-503A-9CA9-C275A8189B2A}"/>
              </a:ext>
            </a:extLst>
          </p:cNvPr>
          <p:cNvCxnSpPr>
            <a:cxnSpLocks/>
            <a:stCxn id="12" idx="3"/>
            <a:endCxn id="20" idx="1"/>
          </p:cNvCxnSpPr>
          <p:nvPr/>
        </p:nvCxnSpPr>
        <p:spPr>
          <a:xfrm>
            <a:off x="7466646" y="1694560"/>
            <a:ext cx="2125629" cy="206413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箭頭接點 49">
            <a:extLst>
              <a:ext uri="{FF2B5EF4-FFF2-40B4-BE49-F238E27FC236}">
                <a16:creationId xmlns:a16="http://schemas.microsoft.com/office/drawing/2014/main" id="{EDCB7597-03F3-A779-A9E2-9B7EDE7B1F71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7486173" y="3758699"/>
            <a:ext cx="2106102" cy="59272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箭頭接點 50">
            <a:extLst>
              <a:ext uri="{FF2B5EF4-FFF2-40B4-BE49-F238E27FC236}">
                <a16:creationId xmlns:a16="http://schemas.microsoft.com/office/drawing/2014/main" id="{775C1172-78CD-C608-2EA6-9B8205D8A7EF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>
            <a:off x="7466646" y="2958362"/>
            <a:ext cx="2125629" cy="80033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箭頭接點 51">
            <a:extLst>
              <a:ext uri="{FF2B5EF4-FFF2-40B4-BE49-F238E27FC236}">
                <a16:creationId xmlns:a16="http://schemas.microsoft.com/office/drawing/2014/main" id="{8BE786C4-D8DB-E2EF-3766-47A60C9E182C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7416164" y="3758699"/>
            <a:ext cx="2176111" cy="22459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542A260C-6301-2AF9-E2B0-CD0E3FF3D960}"/>
              </a:ext>
            </a:extLst>
          </p:cNvPr>
          <p:cNvSpPr txBox="1"/>
          <p:nvPr/>
        </p:nvSpPr>
        <p:spPr>
          <a:xfrm>
            <a:off x="721955" y="448158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000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訓練資料集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B8F3C07E-D75E-7C0C-284E-DEEA8143F6F9}"/>
              </a:ext>
            </a:extLst>
          </p:cNvPr>
          <p:cNvSpPr txBox="1"/>
          <p:nvPr/>
        </p:nvSpPr>
        <p:spPr>
          <a:xfrm>
            <a:off x="3760221" y="6417689"/>
            <a:ext cx="1153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建模資料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CAF635F-9CC3-CB24-7B6F-9381A8D0680B}"/>
              </a:ext>
            </a:extLst>
          </p:cNvPr>
          <p:cNvSpPr txBox="1"/>
          <p:nvPr/>
        </p:nvSpPr>
        <p:spPr>
          <a:xfrm>
            <a:off x="6927532" y="6287843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CART</a:t>
            </a:r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模型</a:t>
            </a: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4AC81CE4-CAB3-7F35-DB93-EE0DF72C9928}"/>
              </a:ext>
            </a:extLst>
          </p:cNvPr>
          <p:cNvSpPr txBox="1"/>
          <p:nvPr/>
        </p:nvSpPr>
        <p:spPr>
          <a:xfrm>
            <a:off x="10327246" y="3151092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預測回歸結果</a:t>
            </a:r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endParaRPr kumimoji="1" lang="en-US" altLang="zh-TW" b="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預測分類結果</a:t>
            </a:r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1E165B93-91B7-841E-2F06-1346A26B0A55}"/>
              </a:ext>
            </a:extLst>
          </p:cNvPr>
          <p:cNvSpPr txBox="1"/>
          <p:nvPr/>
        </p:nvSpPr>
        <p:spPr>
          <a:xfrm>
            <a:off x="1077415" y="1796376"/>
            <a:ext cx="2071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隨機抽樣</a:t>
            </a:r>
            <a:r>
              <a:rPr kumimoji="1" lang="en-US" altLang="zh-TW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n </a:t>
            </a:r>
            <a:r>
              <a:rPr kumimoji="1" lang="zh-TW" altLang="en-US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組資料</a:t>
            </a:r>
            <a:endParaRPr kumimoji="1" lang="en-US" altLang="zh-TW" dirty="0">
              <a:solidFill>
                <a:srgbClr val="0432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kumimoji="1" lang="zh-TW" altLang="en-US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每組資料數量為 </a:t>
            </a:r>
            <a:r>
              <a:rPr kumimoji="1" lang="en-US" altLang="zh-TW" dirty="0">
                <a:solidFill>
                  <a:srgbClr val="0432FF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</a:t>
            </a:r>
            <a:endParaRPr kumimoji="1" lang="zh-TW" altLang="en-US" dirty="0">
              <a:solidFill>
                <a:srgbClr val="0432FF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CBA51AC-9A94-ECFF-3A37-E5121E5D29AC}"/>
              </a:ext>
            </a:extLst>
          </p:cNvPr>
          <p:cNvSpPr txBox="1"/>
          <p:nvPr/>
        </p:nvSpPr>
        <p:spPr>
          <a:xfrm>
            <a:off x="8932193" y="2672298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b="1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平均 </a:t>
            </a:r>
            <a:r>
              <a:rPr kumimoji="1" lang="en-US" altLang="zh-TW" b="1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</a:t>
            </a:r>
            <a:r>
              <a:rPr kumimoji="1" lang="zh-TW" altLang="en-US" b="1" dirty="0">
                <a:solidFill>
                  <a:srgbClr val="C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棵樹的預測結果</a:t>
            </a:r>
          </a:p>
        </p:txBody>
      </p:sp>
      <p:sp>
        <p:nvSpPr>
          <p:cNvPr id="65" name="標題 64">
            <a:extLst>
              <a:ext uri="{FF2B5EF4-FFF2-40B4-BE49-F238E27FC236}">
                <a16:creationId xmlns:a16="http://schemas.microsoft.com/office/drawing/2014/main" id="{FA8AC240-F295-1E94-C177-5DE5E451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900"/>
            <a:ext cx="10515600" cy="1325563"/>
          </a:xfrm>
        </p:spPr>
        <p:txBody>
          <a:bodyPr/>
          <a:lstStyle/>
          <a:p>
            <a:r>
              <a:rPr lang="en-US" altLang="zh-TW" dirty="0"/>
              <a:t>Bagging</a:t>
            </a:r>
            <a:endParaRPr lang="zh-TW" altLang="en-US" dirty="0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68CE46C3-12DF-95A5-C826-4378F9EA4AAB}"/>
              </a:ext>
            </a:extLst>
          </p:cNvPr>
          <p:cNvSpPr txBox="1"/>
          <p:nvPr/>
        </p:nvSpPr>
        <p:spPr>
          <a:xfrm>
            <a:off x="7486173" y="105269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b="1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完整樹不需修剪</a:t>
            </a:r>
          </a:p>
        </p:txBody>
      </p:sp>
    </p:spTree>
    <p:extLst>
      <p:ext uri="{BB962C8B-B14F-4D97-AF65-F5344CB8AC3E}">
        <p14:creationId xmlns:p14="http://schemas.microsoft.com/office/powerpoint/2010/main" val="414820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654143C6-6193-1311-13CC-CBA700BD8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評估機器學習演算法優劣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505895-E38B-5D26-AE81-BE72F6074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TW" altLang="zh-TW" dirty="0"/>
              <a:t>將資料分為訓練集與測試集，訓練集資料用於建立模型，產生模型參數，測試資料集用於根據某一種指標評估模型</a:t>
            </a:r>
          </a:p>
          <a:p>
            <a:pPr lvl="1">
              <a:lnSpc>
                <a:spcPct val="110000"/>
              </a:lnSpc>
            </a:pPr>
            <a:r>
              <a:rPr lang="zh-TW" altLang="zh-TW" dirty="0"/>
              <a:t>測試資料僅有特徵向量，經過模型產生預測結果，再和實際結果比對產生評估指標</a:t>
            </a:r>
          </a:p>
          <a:p>
            <a:pPr lvl="1">
              <a:lnSpc>
                <a:spcPct val="110000"/>
              </a:lnSpc>
            </a:pPr>
            <a:r>
              <a:rPr lang="zh-TW" altLang="zh-TW" dirty="0"/>
              <a:t>分類問題建立混淆矩陣(confusion matrix)以便產生準確率、精確率、招回率、F1_score、及AUC等指標</a:t>
            </a:r>
            <a:endParaRPr lang="en-US" altLang="zh-TW" dirty="0"/>
          </a:p>
          <a:p>
            <a:pPr lvl="1">
              <a:lnSpc>
                <a:spcPct val="110000"/>
              </a:lnSpc>
            </a:pPr>
            <a:r>
              <a:rPr lang="zh-TW" altLang="zh-TW" dirty="0"/>
              <a:t>回歸預測問題計算mean squred error指標</a:t>
            </a:r>
            <a:endParaRPr lang="en-US" altLang="zh-TW" dirty="0"/>
          </a:p>
          <a:p>
            <a:pPr>
              <a:lnSpc>
                <a:spcPct val="110000"/>
              </a:lnSpc>
            </a:pPr>
            <a:r>
              <a:rPr lang="zh-TW" altLang="zh-TW" dirty="0"/>
              <a:t>蒐集的資料量不太充足，可採用k-fold cross-validation方法來評估效能指標</a:t>
            </a:r>
          </a:p>
          <a:p>
            <a:pPr lvl="1">
              <a:lnSpc>
                <a:spcPct val="110000"/>
              </a:lnSpc>
            </a:pPr>
            <a:r>
              <a:rPr lang="zh-TW" altLang="zh-TW" dirty="0"/>
              <a:t>將資料隨機分為k群，期中k-1群資料用於訓練，另一群資料用於測試</a:t>
            </a:r>
          </a:p>
          <a:p>
            <a:pPr lvl="1">
              <a:lnSpc>
                <a:spcPct val="110000"/>
              </a:lnSpc>
            </a:pPr>
            <a:r>
              <a:rPr lang="zh-TW" altLang="zh-TW" dirty="0"/>
              <a:t>重複k次建立模型，每個模型</a:t>
            </a:r>
            <a:r>
              <a:rPr lang="zh-TW" altLang="en-US" dirty="0"/>
              <a:t>可</a:t>
            </a:r>
            <a:r>
              <a:rPr lang="zh-TW" altLang="zh-TW" dirty="0"/>
              <a:t>獲得評估效能指標，將獲得的k個指標值平均</a:t>
            </a:r>
          </a:p>
          <a:p>
            <a:pPr lvl="1">
              <a:lnSpc>
                <a:spcPct val="11000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238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D54E7D-4D64-CAEE-D2CD-53940075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>
              <a:lnSpc>
                <a:spcPct val="110000"/>
              </a:lnSpc>
            </a:pPr>
            <a:r>
              <a:rPr lang="zh-TW" altLang="zh-TW" sz="3600" b="1" dirty="0"/>
              <a:t>k-fold cross-validation不適</a:t>
            </a:r>
            <a:r>
              <a:rPr lang="zh-TW" altLang="en-US" sz="3600" b="1" dirty="0"/>
              <a:t>合</a:t>
            </a:r>
            <a:r>
              <a:rPr lang="zh-TW" altLang="zh-TW" sz="3600" b="1" dirty="0"/>
              <a:t>評估imbalanced classifier</a:t>
            </a:r>
            <a:endParaRPr kumimoji="1" lang="zh-TW" altLang="en-US" sz="3600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66AD1A-9CE8-F31C-7D21-8234248A1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分類問題中資料分佈不平衡，導致向某一方傾斜，</a:t>
            </a:r>
          </a:p>
          <a:p>
            <a:pPr lvl="1"/>
            <a:r>
              <a:rPr lang="zh-TW" altLang="zh-TW" dirty="0"/>
              <a:t>k-fold cross-validation 方法</a:t>
            </a:r>
            <a:r>
              <a:rPr lang="zh-TW" altLang="en-US" dirty="0"/>
              <a:t>的</a:t>
            </a:r>
            <a:r>
              <a:rPr lang="zh-TW" altLang="zh-TW" dirty="0"/>
              <a:t>基本條件為抽取資料時資料分佈應為uniform分佈</a:t>
            </a:r>
            <a:endParaRPr lang="en-US" altLang="zh-TW" dirty="0"/>
          </a:p>
          <a:p>
            <a:r>
              <a:rPr lang="zh-TW" altLang="zh-TW" dirty="0"/>
              <a:t>stratified k-fold cross-validation方法</a:t>
            </a:r>
            <a:r>
              <a:rPr lang="zh-TW" altLang="en-US" dirty="0"/>
              <a:t>隨機抽樣</a:t>
            </a:r>
            <a:r>
              <a:rPr lang="zh-TW" altLang="zh-TW" dirty="0"/>
              <a:t>資料分成 k 個子集</a:t>
            </a:r>
            <a:r>
              <a:rPr lang="zh-TW" altLang="en-US" dirty="0"/>
              <a:t>時</a:t>
            </a:r>
            <a:r>
              <a:rPr lang="zh-TW" altLang="zh-TW" dirty="0"/>
              <a:t>，依</a:t>
            </a:r>
            <a:r>
              <a:rPr lang="zh-TW" altLang="en-US" dirty="0"/>
              <a:t>分類資料數量</a:t>
            </a:r>
            <a:r>
              <a:rPr lang="zh-TW" altLang="zh-TW" dirty="0"/>
              <a:t>比例抽取資料</a:t>
            </a:r>
            <a:endParaRPr lang="en-US" altLang="zh-TW" dirty="0"/>
          </a:p>
          <a:p>
            <a:pPr lvl="1"/>
            <a:r>
              <a:rPr lang="en-US" altLang="zh-TW" dirty="0" err="1"/>
              <a:t>Sklearn</a:t>
            </a:r>
            <a:r>
              <a:rPr lang="zh-TW" altLang="en-US" dirty="0"/>
              <a:t>中</a:t>
            </a:r>
            <a:r>
              <a:rPr lang="zh-TW" altLang="zh-TW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RepeatedStratifiedKFold</a:t>
            </a:r>
            <a:r>
              <a:rPr lang="zh-TW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函數</a:t>
            </a:r>
            <a:r>
              <a:rPr lang="zh-TW" altLang="en-US" dirty="0"/>
              <a:t>運用</a:t>
            </a:r>
            <a:r>
              <a:rPr lang="zh-TW" altLang="zh-TW" dirty="0"/>
              <a:t>多次重複取平均值</a:t>
            </a:r>
            <a:r>
              <a:rPr lang="zh-TW" altLang="en-US" dirty="0"/>
              <a:t>，並於</a:t>
            </a:r>
            <a:r>
              <a:rPr lang="zh-TW" altLang="zh-TW" dirty="0"/>
              <a:t>每</a:t>
            </a:r>
            <a:r>
              <a:rPr lang="zh-TW" altLang="en-US" dirty="0"/>
              <a:t>組資料</a:t>
            </a:r>
            <a:r>
              <a:rPr lang="zh-TW" altLang="zh-TW" dirty="0"/>
              <a:t>中各類別樣本的比例與整個數據集中各類別的比例相同</a:t>
            </a:r>
            <a:endParaRPr lang="en-US" altLang="zh-TW" dirty="0"/>
          </a:p>
          <a:p>
            <a:pPr lvl="1"/>
            <a:r>
              <a:rPr lang="zh-TW" altLang="zh-TW" dirty="0"/>
              <a:t>交叉驗證過程重複進行多次（n_repeats），每次重複時使用不同的隨機種子（random state）</a:t>
            </a:r>
          </a:p>
          <a:p>
            <a:pPr marL="457200" lvl="1" indent="0">
              <a:buNone/>
            </a:pPr>
            <a:endParaRPr lang="zh-TW" altLang="zh-TW" dirty="0"/>
          </a:p>
          <a:p>
            <a:pPr lvl="1"/>
            <a:endParaRPr lang="zh-TW" altLang="zh-TW" dirty="0"/>
          </a:p>
          <a:p>
            <a:pPr lvl="1"/>
            <a:endParaRPr lang="zh-TW" altLang="zh-TW" dirty="0"/>
          </a:p>
          <a:p>
            <a:pPr lvl="1"/>
            <a:endParaRPr lang="zh-TW" altLang="zh-TW" dirty="0"/>
          </a:p>
          <a:p>
            <a:endParaRPr lang="zh-TW" altLang="zh-TW" dirty="0"/>
          </a:p>
          <a:p>
            <a:endParaRPr lang="zh-TW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7398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7A573F0-65D6-FEB7-7D72-72CC5B41D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656" y="600201"/>
            <a:ext cx="10157898" cy="5729347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519284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755462-93FF-E70B-CE5D-79B51661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隨機森超參數調教</a:t>
            </a:r>
            <a:r>
              <a:rPr kumimoji="1" lang="en-US" altLang="zh-TW" dirty="0"/>
              <a:t>(Hyperparameter Tuning)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BE0C19-F533-D7A2-B18B-D5637BB14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尋找</a:t>
            </a:r>
            <a:r>
              <a:rPr lang="zh-TW" altLang="en-US" dirty="0"/>
              <a:t>模型</a:t>
            </a:r>
            <a:r>
              <a:rPr lang="zh-TW" altLang="zh-TW" dirty="0"/>
              <a:t>最佳超參數組合的過程</a:t>
            </a:r>
            <a:endParaRPr lang="en-US" altLang="zh-TW" dirty="0"/>
          </a:p>
          <a:p>
            <a:pPr lvl="1"/>
            <a:r>
              <a:rPr lang="zh-TW" altLang="zh-TW" b="1" dirty="0"/>
              <a:t>模型參數（Parameters）</a:t>
            </a:r>
            <a:r>
              <a:rPr lang="zh-TW" altLang="zh-TW" dirty="0"/>
              <a:t>：模型在訓練過程中透過數據自動學習得出的數值（例如神經網絡的權重和偏置</a:t>
            </a:r>
          </a:p>
          <a:p>
            <a:pPr lvl="1"/>
            <a:r>
              <a:rPr lang="zh-TW" altLang="zh-TW" b="1" dirty="0"/>
              <a:t>超參數（Hyperparameters）</a:t>
            </a:r>
            <a:r>
              <a:rPr lang="zh-TW" altLang="zh-TW" dirty="0"/>
              <a:t>：在訓練開始前、人為設定的配置變數。這些參數不會透過訓練自動更新。</a:t>
            </a:r>
          </a:p>
          <a:p>
            <a:r>
              <a:rPr lang="zh-TW" altLang="zh-TW" dirty="0"/>
              <a:t>尋找</a:t>
            </a:r>
            <a:r>
              <a:rPr lang="zh-TW" altLang="en-US" dirty="0"/>
              <a:t>模型</a:t>
            </a:r>
            <a:r>
              <a:rPr lang="zh-TW" altLang="zh-TW" dirty="0"/>
              <a:t>最佳超參數組合的</a:t>
            </a:r>
            <a:r>
              <a:rPr lang="zh-TW" altLang="en-US" dirty="0"/>
              <a:t>方法</a:t>
            </a:r>
            <a:endParaRPr lang="en-US" altLang="zh-TW" dirty="0"/>
          </a:p>
          <a:p>
            <a:pPr lvl="1"/>
            <a:r>
              <a:rPr lang="zh-TW" altLang="zh-TW" b="1" dirty="0"/>
              <a:t>網格搜尋（Grid Search）</a:t>
            </a:r>
            <a:r>
              <a:rPr lang="zh-TW" altLang="zh-TW" dirty="0"/>
              <a:t>：定義一組超參數的候選值，演算法會試遍所有可能的組合，雖全面但非常耗時。</a:t>
            </a:r>
          </a:p>
          <a:p>
            <a:pPr lvl="1"/>
            <a:r>
              <a:rPr lang="zh-TW" altLang="zh-TW" b="1" dirty="0"/>
              <a:t>隨機搜尋（Random Search）</a:t>
            </a:r>
            <a:r>
              <a:rPr lang="zh-TW" altLang="zh-TW" dirty="0"/>
              <a:t>：在設定的範圍內隨機組合超參數進行訓練，通常比網格搜尋更高效。</a:t>
            </a:r>
          </a:p>
          <a:p>
            <a:pPr lvl="1"/>
            <a:r>
              <a:rPr lang="zh-TW" altLang="zh-TW" b="1" dirty="0"/>
              <a:t>貝葉斯優化（Bayesian Optimization）</a:t>
            </a:r>
            <a:r>
              <a:rPr lang="zh-TW" altLang="zh-TW" dirty="0"/>
              <a:t>：基於之前的評估結果建立機率模型，主動選擇下一組最有希望的超參數，速度最快、效率最高。</a:t>
            </a:r>
          </a:p>
          <a:p>
            <a:pPr lvl="1"/>
            <a:endParaRPr lang="zh-TW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7516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F04272-8BE9-23A7-B152-2E2C3E73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調教超參數的步驟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5FF157-7DAE-872B-F61A-E5E615CF4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定義超參數範圍：確定要調整哪些參數以及範圍。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訓練模型：使用設定的參數組合進行訓練。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評估模型：使用驗證集（Validation Set）評估模型效能。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迭代優化：比較結果，調整參數，重複直到找到最佳組合。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25283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BF65D1-18B1-EAF7-789A-144DFEE36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隨機森林模型</a:t>
            </a:r>
            <a:r>
              <a:rPr lang="zh-TW" altLang="en-US" dirty="0"/>
              <a:t>重要</a:t>
            </a:r>
            <a:r>
              <a:rPr lang="zh-TW" altLang="zh-TW" dirty="0"/>
              <a:t>超參數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102E74-081D-A777-49E4-8BBE5230B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bootstrap ： 是否要抽樣數據 (true/false)</a:t>
            </a:r>
          </a:p>
          <a:p>
            <a:r>
              <a:rPr lang="zh-TW" altLang="zh-TW" dirty="0"/>
              <a:t>max_samples ： 定義多少比例訓練資料用於訓練每一棵樹 (0~1)</a:t>
            </a:r>
          </a:p>
          <a:p>
            <a:r>
              <a:rPr lang="zh-TW" altLang="zh-TW" dirty="0"/>
              <a:t>max_features ： 定義在每一個樹枝分割點的最大特徵因子數</a:t>
            </a:r>
            <a:r>
              <a:rPr lang="zh-TW" altLang="en-US" dirty="0"/>
              <a:t>量</a:t>
            </a:r>
            <a:r>
              <a:rPr lang="zh-TW" altLang="zh-TW" dirty="0"/>
              <a:t>，用於以隨機選取特徵因子</a:t>
            </a:r>
          </a:p>
          <a:p>
            <a:r>
              <a:rPr lang="zh-TW" altLang="zh-TW" dirty="0"/>
              <a:t>n_estimators ： 定義隨機森林的樹的數量</a:t>
            </a:r>
          </a:p>
          <a:p>
            <a:r>
              <a:rPr lang="zh-TW" altLang="zh-TW" dirty="0"/>
              <a:t>max_depth ： 設定樹的最大深度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0754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A11EC-A3C0-374C-FCE6-4E015106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特徵因子重要性(feature importance)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57D366-4F49-309D-F9A5-74DE2DC9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特徵因子重要性(feature importance)是一種轉化的指標(分數)表示每個特徵因子對於預測結果的影響程度</a:t>
            </a:r>
          </a:p>
          <a:p>
            <a:pPr lvl="1"/>
            <a:r>
              <a:rPr lang="zh-TW" altLang="zh-TW" dirty="0"/>
              <a:t>認識資料：經由特徵因子重要性可以了解那些因子對結果有重要影響（包含正反面方便），哪些因子的影響程度不大。藉此可以回饋給領域專家，討論資料搜集策略。</a:t>
            </a:r>
          </a:p>
          <a:p>
            <a:pPr lvl="1"/>
            <a:r>
              <a:rPr lang="zh-TW" altLang="zh-TW" dirty="0"/>
              <a:t>了解模型：藉以瞭解因子對模型（演算法）的運作影響程度，用以作為特徵因子選擇依據。</a:t>
            </a:r>
          </a:p>
          <a:p>
            <a:pPr lvl="1"/>
            <a:r>
              <a:rPr lang="zh-TW" altLang="zh-TW" dirty="0"/>
              <a:t>降低維度：保留對於預測有影響性的因子，移除影響性不大的因子，可以增進執行速度。</a:t>
            </a:r>
          </a:p>
          <a:p>
            <a:pPr lvl="1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609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6A856B-5933-01CE-9D6B-4090969AF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因子重要性指標</a:t>
            </a:r>
            <a:r>
              <a:rPr lang="zh-TW" altLang="en-US" dirty="0"/>
              <a:t>計算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63F8EB-22EF-27F5-1DC1-712F8F9A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基於不純度的重要性 (Mean Decrease Impurity, MDI)</a:t>
            </a:r>
            <a:endParaRPr lang="en-US" altLang="zh-TW" dirty="0"/>
          </a:p>
          <a:p>
            <a:pPr lvl="1"/>
            <a:r>
              <a:rPr lang="zh-TW" altLang="zh-TW" dirty="0"/>
              <a:t>隨機森林的每棵決策樹中，當一個特徵被用於樹的分支點時，會降低節點的不純度（對於分類問題通常是 Gini ，對於迴歸問題是均方誤差 MSE）。計算每個特徵因子在每棵樹中帶來的不純度減少量總和，再針對隨機森林模型中多棵樹中特徵因子的貢獻平均，作為該因子的重要性指標。</a:t>
            </a:r>
          </a:p>
          <a:p>
            <a:r>
              <a:rPr lang="zh-TW" altLang="zh-TW" dirty="0"/>
              <a:t>基於置換的重要性 (Permutation Importance / Mean Decrease Accuracy)</a:t>
            </a:r>
            <a:endParaRPr lang="en-US" altLang="zh-TW" dirty="0"/>
          </a:p>
          <a:p>
            <a:pPr lvl="1"/>
            <a:r>
              <a:rPr lang="zh-TW" altLang="zh-TW" dirty="0"/>
              <a:t>隨機打亂（置換）一個特徵的數值，而保持其他特徵不變，若該特徵重要，則模型在驗證集上的效能（如正確率）會顯著下降。</a:t>
            </a:r>
          </a:p>
          <a:p>
            <a:pPr lvl="1"/>
            <a:r>
              <a:rPr lang="zh-TW" altLang="en-US" dirty="0"/>
              <a:t>計算針對某一個特徵因子的訓練資料打亂（</a:t>
            </a:r>
            <a:r>
              <a:rPr lang="en-US" altLang="zh-TW" dirty="0"/>
              <a:t>permute</a:t>
            </a:r>
            <a:r>
              <a:rPr lang="zh-TW" altLang="en-US" dirty="0"/>
              <a:t>）前、後的效能下降程度為該特徵因子的重要性</a:t>
            </a:r>
            <a:endParaRPr lang="zh-TW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256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96EFA6EF-F1AC-64A4-F55D-E43CE20D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75" y="167446"/>
            <a:ext cx="9773394" cy="6542858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2700308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0A05EBF-EC82-2B44-47AB-27015711A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99" y="107950"/>
            <a:ext cx="8975663" cy="664911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570734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117D9D-2253-935E-F980-48C114F4D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特徵因子選取（</a:t>
            </a:r>
            <a:r>
              <a:rPr kumimoji="1" lang="en-US" altLang="zh-TW" dirty="0"/>
              <a:t>Feature Selection</a:t>
            </a:r>
            <a:r>
              <a:rPr kumimoji="1"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432FAA-690D-E9BF-C3A1-34C6C0EAA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選出對於模型預測結果有重要貢獻的因子，</a:t>
            </a:r>
            <a:r>
              <a:rPr lang="zh-TW" altLang="en-US" dirty="0"/>
              <a:t>可</a:t>
            </a:r>
            <a:r>
              <a:rPr lang="zh-TW" altLang="zh-TW" dirty="0"/>
              <a:t>提升模型效能及加速模型運算速度。</a:t>
            </a:r>
            <a:endParaRPr lang="en-US" altLang="zh-TW" dirty="0"/>
          </a:p>
          <a:p>
            <a:r>
              <a:rPr lang="zh-TW" altLang="zh-TW" dirty="0"/>
              <a:t>隨機森林特別適合用於特徵選取</a:t>
            </a:r>
            <a:endParaRPr lang="en-US" altLang="zh-TW" dirty="0"/>
          </a:p>
          <a:p>
            <a:pPr lvl="1"/>
            <a:r>
              <a:rPr lang="zh-TW" altLang="zh-TW" dirty="0"/>
              <a:t>內建特徵評</a:t>
            </a:r>
            <a:r>
              <a:rPr lang="zh-TW" altLang="en-US" dirty="0"/>
              <a:t>估</a:t>
            </a:r>
            <a:r>
              <a:rPr lang="zh-TW" altLang="zh-TW" dirty="0"/>
              <a:t>： 隨機森林提供一種內建的方法來評估特徵的重要性。</a:t>
            </a:r>
          </a:p>
          <a:p>
            <a:pPr lvl="1"/>
            <a:r>
              <a:rPr lang="zh-TW" altLang="zh-TW" dirty="0"/>
              <a:t>處理高維度數據： 即使在特徵數量遠大於樣本數量的情況下也依然有效。</a:t>
            </a:r>
          </a:p>
          <a:p>
            <a:pPr lvl="1"/>
            <a:r>
              <a:rPr lang="zh-TW" altLang="zh-TW" dirty="0"/>
              <a:t>非線性關係： 能夠捕捉特徵之間複雜的交互作用，而不需要明確指定這些交互關係。</a:t>
            </a:r>
          </a:p>
          <a:p>
            <a:endParaRPr lang="zh-TW" altLang="zh-TW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3558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91D6B0-19A6-7475-9171-E03B8D91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利用隨機森林選取</a:t>
            </a:r>
            <a:r>
              <a:rPr lang="zh-TW" altLang="zh-TW" dirty="0"/>
              <a:t>特徵</a:t>
            </a:r>
            <a:r>
              <a:rPr lang="zh-TW" altLang="en-US" dirty="0"/>
              <a:t>因子</a:t>
            </a:r>
            <a:r>
              <a:rPr lang="zh-TW" altLang="zh-TW" dirty="0"/>
              <a:t>步驟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272269-2F53-825D-18CA-7DE33276F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建立RF模型，依據原始資料建模並評估效能指標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計算feature importance指標(model.feature_importance_)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將feature importance指標排序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設定threshold(ex, 0.05)或指定因子數量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依選取特徵因子再次建模及評估效能指標，比較前後效能指標差異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631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1888</Words>
  <Application>Microsoft Macintosh PowerPoint</Application>
  <PresentationFormat>寬螢幕</PresentationFormat>
  <Paragraphs>170</Paragraphs>
  <Slides>23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Microsoft JhengHei</vt:lpstr>
      <vt:lpstr>Arial</vt:lpstr>
      <vt:lpstr>Calibri</vt:lpstr>
      <vt:lpstr>Cambria Math</vt:lpstr>
      <vt:lpstr>Consolas</vt:lpstr>
      <vt:lpstr>Office 佈景主題</vt:lpstr>
      <vt:lpstr>隨機森林模型</vt:lpstr>
      <vt:lpstr>回顧決策樹模型</vt:lpstr>
      <vt:lpstr>CART</vt:lpstr>
      <vt:lpstr>Sklearn實作CART</vt:lpstr>
      <vt:lpstr>繪製決策樹圖</vt:lpstr>
      <vt:lpstr>Bagging Tree</vt:lpstr>
      <vt:lpstr>Booststrap Aggregation (Bagging)</vt:lpstr>
      <vt:lpstr>Bagging</vt:lpstr>
      <vt:lpstr>隨機森林模型</vt:lpstr>
      <vt:lpstr>隨機森林模型</vt:lpstr>
      <vt:lpstr>Bagging</vt:lpstr>
      <vt:lpstr>評估機器學習演算法優劣</vt:lpstr>
      <vt:lpstr>k-fold cross-validation不適合評估imbalanced classifier</vt:lpstr>
      <vt:lpstr>PowerPoint 簡報</vt:lpstr>
      <vt:lpstr>隨機森超參數調教(Hyperparameter Tuning)</vt:lpstr>
      <vt:lpstr>調教超參數的步驟</vt:lpstr>
      <vt:lpstr>隨機森林模型重要超參數</vt:lpstr>
      <vt:lpstr>特徵因子重要性(feature importance)</vt:lpstr>
      <vt:lpstr>因子重要性指標計算</vt:lpstr>
      <vt:lpstr>PowerPoint 簡報</vt:lpstr>
      <vt:lpstr>PowerPoint 簡報</vt:lpstr>
      <vt:lpstr>特徵因子選取（Feature Selection）</vt:lpstr>
      <vt:lpstr>利用隨機森林選取特徵因子步驟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Jainshone Chung</dc:creator>
  <cp:lastModifiedBy>Jainshone Chung</cp:lastModifiedBy>
  <cp:revision>4</cp:revision>
  <dcterms:created xsi:type="dcterms:W3CDTF">2026-05-19T05:39:00Z</dcterms:created>
  <dcterms:modified xsi:type="dcterms:W3CDTF">2026-05-19T13:48:10Z</dcterms:modified>
</cp:coreProperties>
</file>